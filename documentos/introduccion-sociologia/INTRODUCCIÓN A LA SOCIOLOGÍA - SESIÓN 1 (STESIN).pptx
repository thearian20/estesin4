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60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98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372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0" y="301752"/>
            <a:ext cx="310896" cy="6245352"/>
          </a:xfrm>
          <a:prstGeom prst="rect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7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148" y="749808"/>
            <a:ext cx="4562345" cy="1325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9A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27889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curso 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sociología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024128" y="4187952"/>
            <a:ext cx="5669280" cy="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1024128" y="44348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Asignatura: Introducción a la sociología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24128" y="482803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Dr. Frank Isaac Berrocal Aréstegui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4128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Ayacucho - 2026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275320" y="4901184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003B70"/>
          </a:solidFill>
          <a:ln w="12700">
            <a:solidFill>
              <a:srgbClr val="003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522208" y="50474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5.º ciclo académico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introducción sencilla, bíblica y útil para el ministerio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9808" y="1993392"/>
            <a:ext cx="2450592" cy="2697480"/>
          </a:xfrm>
          <a:prstGeom prst="roundRect">
            <a:avLst>
              <a:gd name="adj" fmla="val 4478"/>
            </a:avLst>
          </a:prstGeom>
          <a:solidFill>
            <a:srgbClr val="EAF2FA"/>
          </a:solidFill>
          <a:ln w="12700">
            <a:solidFill>
              <a:srgbClr val="A6C4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435608" y="1481328"/>
            <a:ext cx="1051560" cy="105156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435608" y="170078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" y="23500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curso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78408" y="3054096"/>
            <a:ext cx="19659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Sílabo, metodología y evaluación.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566160" y="1993392"/>
            <a:ext cx="2450592" cy="2697480"/>
          </a:xfrm>
          <a:prstGeom prst="roundRect">
            <a:avLst>
              <a:gd name="adj" fmla="val 4478"/>
            </a:avLst>
          </a:prstGeom>
          <a:solidFill>
            <a:srgbClr val="FFF4CF"/>
          </a:solidFill>
          <a:ln w="1270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251960" y="1481328"/>
            <a:ext cx="1051560" cy="1051560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251960" y="170078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03904" y="23500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concreta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94760" y="3054096"/>
            <a:ext cx="19659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Caso: una iglesia que no comprende su comunidad.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82512" y="1993392"/>
            <a:ext cx="2450592" cy="2697480"/>
          </a:xfrm>
          <a:prstGeom prst="roundRect">
            <a:avLst>
              <a:gd name="adj" fmla="val 4478"/>
            </a:avLst>
          </a:prstGeom>
          <a:solidFill>
            <a:srgbClr val="EAF2FA"/>
          </a:solidFill>
          <a:ln w="12700">
            <a:solidFill>
              <a:srgbClr val="A6C4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068312" y="1481328"/>
            <a:ext cx="1051560" cy="105156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068312" y="170078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20256" y="23500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básicos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11112" y="3054096"/>
            <a:ext cx="19659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Sociedad, cultura, grupos, normas e instituciones.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198864" y="1993392"/>
            <a:ext cx="2450592" cy="2697480"/>
          </a:xfrm>
          <a:prstGeom prst="roundRect">
            <a:avLst>
              <a:gd name="adj" fmla="val 4478"/>
            </a:avLst>
          </a:prstGeom>
          <a:solidFill>
            <a:srgbClr val="FFF4CF"/>
          </a:solidFill>
          <a:ln w="1270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9884664" y="1481328"/>
            <a:ext cx="1051560" cy="1051560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9884664" y="170078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436608" y="23500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ministerial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427464" y="3054096"/>
            <a:ext cx="19659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mirada sociológica a mi iglesia.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2304288" y="5074920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2532888" y="5303520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“Examinadlo todo; retened lo bueno.”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32888" y="54406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Tesalonicenses 5:21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31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de aprendizaje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sociología como herramienta auxiliar para leer mejor la realidad social</a:t>
            </a:r>
            <a:endParaRPr lang="en-US" sz="1550" dirty="0"/>
          </a:p>
        </p:txBody>
      </p:sp>
      <p:pic>
        <p:nvPicPr>
          <p:cNvPr id="6" name="Image 0" descr="/mnt/data/a_wide_interior_scene_of_a_rustic_classroom_or_mee.png"/>
          <p:cNvPicPr>
            <a:picLocks noChangeAspect="1"/>
          </p:cNvPicPr>
          <p:nvPr/>
        </p:nvPicPr>
        <p:blipFill>
          <a:blip r:embed="rId3"/>
          <a:srcRect l="16049" r="16049"/>
          <a:stretch/>
        </p:blipFill>
        <p:spPr>
          <a:xfrm>
            <a:off x="658368" y="1481328"/>
            <a:ext cx="50749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5120640"/>
            <a:ext cx="5074920" cy="566928"/>
          </a:xfrm>
          <a:prstGeom prst="rect">
            <a:avLst/>
          </a:prstGeom>
          <a:solidFill>
            <a:srgbClr val="003B7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41248" y="5321808"/>
            <a:ext cx="4681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Adultos en formación teológica: experiencia + reflexión + Biblia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99632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finalizar, el estudiante podrá: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355080" y="2176272"/>
            <a:ext cx="516636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explicar qué estudia la sociología;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distinguir su aporte frente a la teología;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leer necesidades sociales de la iglesia y la comunidad;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formular una pregunta sociológica útil para el ministerio.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36208" y="48920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E9F3EF"/>
          </a:solidFill>
          <a:ln w="13970">
            <a:solidFill>
              <a:srgbClr val="14372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464808" y="50566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fuerza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64808" y="545896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sociología no reemplaza la Escritura: ayuda a observar el contexto donde la iglesia sirve y anuncia el evangelio.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6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didáctica: ciclo de Kolb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desde la experiencia ministerial y volver a la práctica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46120" y="2697480"/>
            <a:ext cx="1325880" cy="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1097280" cy="82296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9144000" y="4096512"/>
            <a:ext cx="0" cy="68580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983480" y="4800600"/>
            <a:ext cx="0" cy="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1005840" y="201168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5240">
            <a:solidFill>
              <a:srgbClr val="B9D1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1207008" y="2304288"/>
            <a:ext cx="777240" cy="77724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207008" y="2487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221992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concreta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2075688" y="28712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iglesia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4800600" y="114300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FFF4CF"/>
          </a:solidFill>
          <a:ln w="1524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001768" y="1435608"/>
            <a:ext cx="777240" cy="777240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001768" y="1618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0448" y="1353312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reflexiva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5870448" y="2002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está pasando?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8321040" y="201168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5240">
            <a:solidFill>
              <a:srgbClr val="B9D1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8522208" y="2304288"/>
            <a:ext cx="777240" cy="77724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8522208" y="2487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0888" y="2221992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Conceptualización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abstracta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9390888" y="28712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sociológicos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4800600" y="443484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FFF4CF"/>
          </a:solidFill>
          <a:ln w="1524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5001768" y="4727448"/>
            <a:ext cx="777240" cy="777240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001768" y="4910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70448" y="4645152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Experimentación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</a:t>
            </a: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5870448" y="5294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a mi iglesia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1097280" y="5961888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no será solo exposición; conectará la teoría con la realidad de Moyobamba, Sullana y comunidades aledañas.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33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" name="Image 0" descr="/mnt/data/a_wide_outdoor_rural_scene_showing_a_group_of_peop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166360" cy="6858000"/>
          </a:xfrm>
          <a:prstGeom prst="rect">
            <a:avLst/>
          </a:prstGeom>
          <a:solidFill>
            <a:srgbClr val="003B70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3"/>
          <p:cNvSpPr/>
          <p:nvPr/>
        </p:nvSpPr>
        <p:spPr>
          <a:xfrm>
            <a:off x="566928" y="914400"/>
            <a:ext cx="128016" cy="4389120"/>
          </a:xfrm>
          <a:prstGeom prst="rect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41248" y="9601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introductorio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77824" y="306324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9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Iglesia “Buen Pastor” creció, pero ahora pierde jóvenes y conoce poco a su comunidad.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1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480060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9"/>
          <p:cNvSpPr/>
          <p:nvPr/>
        </p:nvSpPr>
        <p:spPr>
          <a:xfrm>
            <a:off x="1014984" y="487375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CONCRETA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para abrir la mirada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sirve para conectar la clase con la experiencia pastoral</a:t>
            </a:r>
            <a:endParaRPr lang="en-US" sz="1550" dirty="0"/>
          </a:p>
        </p:txBody>
      </p:sp>
      <p:pic>
        <p:nvPicPr>
          <p:cNvPr id="6" name="Image 0" descr="/mnt/data/a_wide_indoor_scene_in_a_simple_room_a_group_meet.png"/>
          <p:cNvPicPr>
            <a:picLocks noChangeAspect="1"/>
          </p:cNvPicPr>
          <p:nvPr/>
        </p:nvPicPr>
        <p:blipFill>
          <a:blip r:embed="rId3"/>
          <a:srcRect l="18929" r="18929"/>
          <a:stretch/>
        </p:blipFill>
        <p:spPr>
          <a:xfrm>
            <a:off x="6565392" y="1408176"/>
            <a:ext cx="484632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" y="1600200"/>
            <a:ext cx="566928" cy="566928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41248" y="17373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27632" y="15544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cambios sociales podrían estar afectando a la iglesia?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41248" y="2862072"/>
            <a:ext cx="566928" cy="566928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41248" y="29992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27632" y="28163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información falta antes de tomar decisiones?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41248" y="4123944"/>
            <a:ext cx="566928" cy="566928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841248" y="42611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627632" y="407822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evitar explicaciones demasiado rápidas?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841248" y="5230368"/>
            <a:ext cx="5239512" cy="566928"/>
          </a:xfrm>
          <a:prstGeom prst="roundRect">
            <a:avLst>
              <a:gd name="adj" fmla="val 12903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069848" y="5458968"/>
            <a:ext cx="478231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“Todo hombre sea pronto para oír, tardo para hablar.”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069848" y="5413248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1:19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1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reflexiva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problema eclesial se entiende con una sola explicación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9808" y="1481328"/>
            <a:ext cx="5193792" cy="4160520"/>
          </a:xfrm>
          <a:prstGeom prst="rect">
            <a:avLst/>
          </a:prstGeom>
          <a:solidFill>
            <a:srgbClr val="FFF4CF"/>
          </a:solidFill>
          <a:ln w="1524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6254496" y="1481328"/>
            <a:ext cx="5193792" cy="4160520"/>
          </a:xfrm>
          <a:prstGeom prst="rect">
            <a:avLst/>
          </a:prstGeom>
          <a:solidFill>
            <a:srgbClr val="EAF2FA"/>
          </a:solidFill>
          <a:ln w="15240">
            <a:solidFill>
              <a:srgbClr val="A8C7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078992" y="1783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rápido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24128" y="2542032"/>
            <a:ext cx="4526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“Falta compromiso”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“Los jóvenes no quieren servir”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“Las redes sociales tienen la culpa”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4128" y="46634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contener algo de verdad, pero suele ser incompleto.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Mirada sociológica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37960" y="2542032"/>
            <a:ext cx="45262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familia y trabajo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migración y economía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cultura digital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conflictos generacionales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37960" y="46634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factores, relaciones y contexto antes de responder.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6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bíblico para mirar la sociedad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sociología se evalúa desde una cosmovisión bíblica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04672" y="1508760"/>
            <a:ext cx="5047488" cy="1417320"/>
          </a:xfrm>
          <a:prstGeom prst="roundRect">
            <a:avLst>
              <a:gd name="adj" fmla="val 6452"/>
            </a:avLst>
          </a:prstGeom>
          <a:solidFill>
            <a:srgbClr val="E9F3EF"/>
          </a:solidFill>
          <a:ln w="13970">
            <a:solidFill>
              <a:srgbClr val="14372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060704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Dignidad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60704" y="21122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 humano fue creado a imagen de Dios.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457200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Gn. 1:27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82512" y="1508760"/>
            <a:ext cx="5047488" cy="1417320"/>
          </a:xfrm>
          <a:prstGeom prst="roundRect">
            <a:avLst>
              <a:gd name="adj" fmla="val 6452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638544" y="1691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38544" y="21122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bueno que el hombre esté solo.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10149840" y="1728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Gn. 2:18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" y="3383280"/>
            <a:ext cx="5047488" cy="1417320"/>
          </a:xfrm>
          <a:prstGeom prst="roundRect">
            <a:avLst>
              <a:gd name="adj" fmla="val 6452"/>
            </a:avLst>
          </a:prstGeom>
          <a:solidFill>
            <a:srgbClr val="E9F3EF"/>
          </a:solidFill>
          <a:ln w="13970">
            <a:solidFill>
              <a:srgbClr val="14372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1060704" y="3566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60704" y="39867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pecado afecta personas, relaciones e instituciones.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4572000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Ro. 3:23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82512" y="3383280"/>
            <a:ext cx="5047488" cy="1417320"/>
          </a:xfrm>
          <a:prstGeom prst="roundRect">
            <a:avLst>
              <a:gd name="adj" fmla="val 6452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638544" y="3566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638544" y="39867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 a Dios y al prójimo orienta el servicio.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10149840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Mt. 22:37-39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444752" y="5486400"/>
            <a:ext cx="9281160" cy="585216"/>
          </a:xfrm>
          <a:prstGeom prst="roundRect">
            <a:avLst>
              <a:gd name="adj" fmla="val 12500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1673352" y="5715000"/>
            <a:ext cx="8823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Biblia no nos aparta de la realidad; nos enseña a verla con verdad, compasión y discernimiento.”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73352" y="5687568"/>
            <a:ext cx="8823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la sesión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7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sociología?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herramienta para estudiar la vida social de manera ordenada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41248" y="1508760"/>
            <a:ext cx="58064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CD7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43000" y="1810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sociología estudia: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50749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sociedad y sus cambios;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 relaciones entre personas;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grupos, normas e instituciones;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conflictos y desigualdades.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78040" y="1737360"/>
            <a:ext cx="3886200" cy="2423160"/>
          </a:xfrm>
          <a:prstGeom prst="roundRect">
            <a:avLst>
              <a:gd name="adj" fmla="val 5283"/>
            </a:avLst>
          </a:prstGeom>
          <a:solidFill>
            <a:srgbClr val="003B70"/>
          </a:solidFill>
          <a:ln w="12700">
            <a:solidFill>
              <a:srgbClr val="003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498080" y="2148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“mirar por mirar”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35240" y="28620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E9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observar con preguntas, datos y reflexión.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325880" y="4800600"/>
            <a:ext cx="9509760" cy="786384"/>
          </a:xfrm>
          <a:prstGeom prst="roundRect">
            <a:avLst>
              <a:gd name="adj" fmla="val 9302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554480" y="4910328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ministerio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54480" y="518464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a comprender el contexto donde se predica, se discipula, se acompaña y se sirve.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7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estudio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Sociedad, relaciones, grupos, cultura e instituciones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983480" cy="1216152"/>
          </a:xfrm>
          <a:prstGeom prst="roundRect">
            <a:avLst>
              <a:gd name="adj" fmla="val 7519"/>
            </a:avLst>
          </a:prstGeom>
          <a:solidFill>
            <a:srgbClr val="EAF2FA"/>
          </a:solidFill>
          <a:ln w="1270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15568" y="1728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21854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relaciones y formas de vida compartidas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983480" cy="1216152"/>
          </a:xfrm>
          <a:prstGeom prst="roundRect">
            <a:avLst>
              <a:gd name="adj" fmla="val 7519"/>
            </a:avLst>
          </a:prstGeom>
          <a:solidFill>
            <a:srgbClr val="FFF4CF"/>
          </a:solidFill>
          <a:ln w="1270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647688" y="1728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47688" y="21854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valores, costumbres, símbolos y creencias</a:t>
            </a:r>
            <a:endParaRPr lang="en-US" sz="1470" dirty="0"/>
          </a:p>
        </p:txBody>
      </p:sp>
      <p:sp>
        <p:nvSpPr>
          <p:cNvPr id="12" name="Shape 10"/>
          <p:cNvSpPr/>
          <p:nvPr/>
        </p:nvSpPr>
        <p:spPr>
          <a:xfrm>
            <a:off x="868680" y="3200400"/>
            <a:ext cx="4983480" cy="1216152"/>
          </a:xfrm>
          <a:prstGeom prst="roundRect">
            <a:avLst>
              <a:gd name="adj" fmla="val 7519"/>
            </a:avLst>
          </a:prstGeom>
          <a:solidFill>
            <a:srgbClr val="EAF2FA"/>
          </a:solidFill>
          <a:ln w="1270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115568" y="34198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" y="3877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familia, iglesia, escuela, comunidad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6400800" y="3200400"/>
            <a:ext cx="4983480" cy="1216152"/>
          </a:xfrm>
          <a:prstGeom prst="roundRect">
            <a:avLst>
              <a:gd name="adj" fmla="val 7519"/>
            </a:avLst>
          </a:prstGeom>
          <a:solidFill>
            <a:srgbClr val="FFF4CF"/>
          </a:solidFill>
          <a:ln w="1270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647688" y="34198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47688" y="3877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que ordenan la vida social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2103120" y="52578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2331720" y="5486400"/>
            <a:ext cx="758952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“Dios hizo de una sangre todo el linaje de los hombres.”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331720" y="55321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Hechos 17:26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3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niveles de análisis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misma situación puede tener varios niveles de lectura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560320" y="3438144"/>
            <a:ext cx="2286000" cy="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6675120" y="3438144"/>
            <a:ext cx="2286000" cy="0"/>
          </a:xfrm>
          <a:prstGeom prst="line">
            <a:avLst/>
          </a:prstGeom>
          <a:noFill/>
          <a:ln w="25400">
            <a:solidFill>
              <a:srgbClr val="D9A51C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969264" y="1901952"/>
            <a:ext cx="2240280" cy="2240280"/>
          </a:xfrm>
          <a:prstGeom prst="ellipse">
            <a:avLst/>
          </a:prstGeom>
          <a:solidFill>
            <a:srgbClr val="FFF4CF"/>
          </a:solidFill>
          <a:ln w="1905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96112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Microsocial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a persona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" y="461772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033272" y="47274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33272" y="5001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familia, jóvenes, consejería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4846320" y="1901952"/>
            <a:ext cx="2240280" cy="2240280"/>
          </a:xfrm>
          <a:prstGeom prst="ellipse">
            <a:avLst/>
          </a:prstGeom>
          <a:solidFill>
            <a:srgbClr val="003B70"/>
          </a:solidFill>
          <a:ln w="19050">
            <a:solidFill>
              <a:srgbClr val="003B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773168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Comunitario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64608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D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e iglesia local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81728" y="461772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03B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910328" y="47274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10328" y="5001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ministerios, liderazgo, convivencia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723376" y="1901952"/>
            <a:ext cx="2240280" cy="2240280"/>
          </a:xfrm>
          <a:prstGeom prst="ellipse">
            <a:avLst/>
          </a:prstGeom>
          <a:solidFill>
            <a:srgbClr val="FFF4CF"/>
          </a:solidFill>
          <a:ln w="1905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8650224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Macrosocial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41664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amplios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58784" y="461772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8787384" y="47274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pobreza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787384" y="5001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pobreza, migración, digitalización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8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 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Sociedad, grupo social y cultura</a:t>
            </a:r>
            <a:endParaRPr lang="en-US" sz="1550" dirty="0"/>
          </a:p>
        </p:txBody>
      </p:sp>
      <p:pic>
        <p:nvPicPr>
          <p:cNvPr id="6" name="Image 0" descr="/mnt/data/a_wide_outdoor_under_shelter_scene_of_a_small_gro.png"/>
          <p:cNvPicPr>
            <a:picLocks noChangeAspect="1"/>
          </p:cNvPicPr>
          <p:nvPr/>
        </p:nvPicPr>
        <p:blipFill>
          <a:blip r:embed="rId3"/>
          <a:srcRect l="18306" r="18306"/>
          <a:stretch/>
        </p:blipFill>
        <p:spPr>
          <a:xfrm>
            <a:off x="685800" y="1417320"/>
            <a:ext cx="4892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417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EAF2FA"/>
          </a:solidFill>
          <a:ln w="1397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217920" y="15819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9842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organizado de personas que comparten relaciones, instituciones y formas de vida.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89320" y="274320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6217920" y="29077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social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17920" y="33101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que interactúan, comparten objetivos y desarrollan sentido de pertenencia.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989320" y="406908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E9F3EF"/>
          </a:solidFill>
          <a:ln w="13970">
            <a:solidFill>
              <a:srgbClr val="14372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6217920" y="4233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17920" y="4636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Valores, creencias, costumbres, lenguas y símbolos que una comunidad transmite.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035040" y="54498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iglesia vive dentro de una cultura, pero no debe ser dominada por ella.</a:t>
            </a:r>
            <a:endParaRPr lang="en-US" sz="1520" dirty="0"/>
          </a:p>
        </p:txBody>
      </p:sp>
      <p:sp>
        <p:nvSpPr>
          <p:cNvPr id="17" name="Shape 14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9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 II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Normas, estatus, rol e institución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1572768"/>
            <a:ext cx="49834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CCD7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139696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formales o informales que orientan el comportamiento.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1572768"/>
            <a:ext cx="4983480" cy="1115568"/>
          </a:xfrm>
          <a:prstGeom prst="roundRect">
            <a:avLst>
              <a:gd name="adj" fmla="val 6557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629400" y="1737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Estatus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139696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que alguien ocupa dentro de un grupo.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264408"/>
            <a:ext cx="49834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CCD7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097280" y="3429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831336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esperadas según esa posición.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0" y="3264408"/>
            <a:ext cx="4983480" cy="1115568"/>
          </a:xfrm>
          <a:prstGeom prst="roundRect">
            <a:avLst>
              <a:gd name="adj" fmla="val 6557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629400" y="3429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3831336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estable que responde a necesidades sociales.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463040" y="5257800"/>
            <a:ext cx="9235440" cy="621792"/>
          </a:xfrm>
          <a:prstGeom prst="roundRect">
            <a:avLst>
              <a:gd name="adj" fmla="val 11765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1691640" y="5486400"/>
            <a:ext cx="877824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que quiera hacerse grande entre vosotros será vuestro servidor.”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49554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10:43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3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para integrar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disciplina mira una parte de la realidad humana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450592" cy="2926080"/>
          </a:xfrm>
          <a:prstGeom prst="roundRect">
            <a:avLst>
              <a:gd name="adj" fmla="val 4478"/>
            </a:avLst>
          </a:prstGeom>
          <a:solidFill>
            <a:srgbClr val="EAF2FA"/>
          </a:solidFill>
          <a:ln w="15240">
            <a:solidFill>
              <a:srgbClr val="003B7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Teología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19933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Dios, revelación, doctrina, salvación y misión.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3575304" y="1600200"/>
            <a:ext cx="2450592" cy="2926080"/>
          </a:xfrm>
          <a:prstGeom prst="roundRect">
            <a:avLst>
              <a:gd name="adj" fmla="val 4478"/>
            </a:avLst>
          </a:prstGeom>
          <a:solidFill>
            <a:srgbClr val="FFF4CF"/>
          </a:solidFill>
          <a:ln w="1524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739896" y="18745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Sociología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03904" y="2651760"/>
            <a:ext cx="19933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Relaciones, grupos, instituciones y cambios sociales.</a:t>
            </a:r>
            <a:endParaRPr lang="en-US" sz="1470" dirty="0"/>
          </a:p>
        </p:txBody>
      </p:sp>
      <p:sp>
        <p:nvSpPr>
          <p:cNvPr id="12" name="Shape 10"/>
          <p:cNvSpPr/>
          <p:nvPr/>
        </p:nvSpPr>
        <p:spPr>
          <a:xfrm>
            <a:off x="6464808" y="1600200"/>
            <a:ext cx="2450592" cy="2926080"/>
          </a:xfrm>
          <a:prstGeom prst="roundRect">
            <a:avLst>
              <a:gd name="adj" fmla="val 4478"/>
            </a:avLst>
          </a:prstGeom>
          <a:solidFill>
            <a:srgbClr val="E9F3EF"/>
          </a:solidFill>
          <a:ln w="15240">
            <a:solidFill>
              <a:srgbClr val="14372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629400" y="18745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Psicología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93408" y="2651760"/>
            <a:ext cx="19933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Conducta, emociones, pensamientos y procesos personales.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9354312" y="1600200"/>
            <a:ext cx="2450592" cy="2926080"/>
          </a:xfrm>
          <a:prstGeom prst="roundRect">
            <a:avLst>
              <a:gd name="adj" fmla="val 4478"/>
            </a:avLst>
          </a:prstGeom>
          <a:solidFill>
            <a:srgbClr val="EEEAE2"/>
          </a:solidFill>
          <a:ln w="15240">
            <a:solidFill>
              <a:srgbClr val="7A6A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518904" y="18745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Antropología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82912" y="2651760"/>
            <a:ext cx="19933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Cultura, símbolos, pueblos y diversidad humana.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2148840" y="5102352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2377440" y="521208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discernimiento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377440" y="548640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sociología puede informar el ministerio, pero la doctrina se define por la Escritura.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3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Sociología bajo autoridad bíblica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sin ingenuidad: examinar presupuestos, métodos e interpretaciones</a:t>
            </a:r>
            <a:endParaRPr lang="en-US" sz="1550" dirty="0"/>
          </a:p>
        </p:txBody>
      </p:sp>
      <p:pic>
        <p:nvPicPr>
          <p:cNvPr id="6" name="Image 0" descr="/mnt/data/a_warm_softly_lit_indoor_scene_viewed_from_above.png"/>
          <p:cNvPicPr>
            <a:picLocks noChangeAspect="1"/>
          </p:cNvPicPr>
          <p:nvPr/>
        </p:nvPicPr>
        <p:blipFill>
          <a:blip r:embed="rId3"/>
          <a:srcRect l="16414" r="16414"/>
          <a:stretch/>
        </p:blipFill>
        <p:spPr>
          <a:xfrm>
            <a:off x="694944" y="1435608"/>
            <a:ext cx="507492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36208" y="1664208"/>
            <a:ext cx="621792" cy="621792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236208" y="1810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59168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 la realidad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59168" y="2029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observar, preguntar, registrar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36208" y="2907792"/>
            <a:ext cx="621792" cy="621792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236208" y="305409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59168" y="28895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Examinar las ideas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059168" y="32735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supuestos contrarios a la fe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236208" y="4151376"/>
            <a:ext cx="621792" cy="621792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236208" y="42976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59168" y="4133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Retener lo bueno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59168" y="45171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lo verdadero al servicio del evangelio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44768" y="5166360"/>
            <a:ext cx="4892040" cy="594360"/>
          </a:xfrm>
          <a:prstGeom prst="roundRect">
            <a:avLst>
              <a:gd name="adj" fmla="val 12308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6373368" y="5394960"/>
            <a:ext cx="4434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“Toda la Escritura es inspirada por Dios.”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73368" y="53766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Timoteo 3:16-17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4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Aportes al ministerio cristiano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 mejor para servir con más sabiduría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EAF2FA"/>
          </a:solidFill>
          <a:ln w="1397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68249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y cómo vive la comunidad?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26280" y="1517904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754880" y="168249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084832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situaciones afectan a las familias?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366760" y="1517904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EAF2FA"/>
          </a:solidFill>
          <a:ln w="1397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595360" y="168249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Prejuicios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0" y="2084832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interpretaciones debemos corregir?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14400" y="360273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005072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acciones son pertinentes?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526280" y="3438144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EAF2FA"/>
          </a:solidFill>
          <a:ln w="1397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4754880" y="360273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4005072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nuevas generaciones y medios influyen?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366760" y="3438144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8595360" y="360273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integral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4005072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unir evangelio, discipulado y servicio?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60120" y="57424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acción social no reemplaza el evangelio; el evangelio verdadero produce amor al prójimo.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7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" name="Image 0" descr="/mnt/data/wide_outdoor_street_village_scene_with_a_warm_lat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2"/>
          <p:cNvSpPr/>
          <p:nvPr/>
        </p:nvSpPr>
        <p:spPr>
          <a:xfrm>
            <a:off x="6812280" y="0"/>
            <a:ext cx="5376672" cy="6858000"/>
          </a:xfrm>
          <a:prstGeom prst="rect">
            <a:avLst/>
          </a:prstGeom>
          <a:solidFill>
            <a:srgbClr val="003B70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3"/>
          <p:cNvSpPr/>
          <p:nvPr/>
        </p:nvSpPr>
        <p:spPr>
          <a:xfrm>
            <a:off x="7205472" y="914400"/>
            <a:ext cx="128016" cy="4389120"/>
          </a:xfrm>
          <a:prstGeom prst="rect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7479792" y="960120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el contexto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498080" y="306324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9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Moyobamba, Sullana y comunidades aledañas: familias, economía local, migración, juventud y cultura digital.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1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98080" y="480060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14372F"/>
          </a:solidFill>
          <a:ln w="12700">
            <a:solidFill>
              <a:srgbClr val="1437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9"/>
          <p:cNvSpPr/>
          <p:nvPr/>
        </p:nvSpPr>
        <p:spPr>
          <a:xfrm>
            <a:off x="7644384" y="487375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MINISTERIAL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 que la iglesia debe observar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frecuentes en comunidades rurales, selva y costa norte</a:t>
            </a:r>
            <a:endParaRPr lang="en-US" sz="1550" dirty="0"/>
          </a:p>
        </p:txBody>
      </p:sp>
      <p:pic>
        <p:nvPicPr>
          <p:cNvPr id="6" name="Image 0" descr="/mnt/data/a_wide_outdoor_rural_scene_showing_a_group_of_peop.png"/>
          <p:cNvPicPr>
            <a:picLocks noChangeAspect="1"/>
          </p:cNvPicPr>
          <p:nvPr/>
        </p:nvPicPr>
        <p:blipFill>
          <a:blip r:embed="rId3"/>
          <a:srcRect l="19808" r="19808"/>
          <a:stretch/>
        </p:blipFill>
        <p:spPr>
          <a:xfrm>
            <a:off x="6537960" y="1371600"/>
            <a:ext cx="470916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36192"/>
            <a:ext cx="52578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violencia familiar y conflictos de pareja;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pobreza, informalidad y trabajos inestables;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alcoholismo y tensiones comunitarias;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jóvenes con baja participación eclesial;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migración y familias fragmentadas;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adultos mayores o niños con poco acompañamiento.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5230368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E9F3EF"/>
          </a:solidFill>
          <a:ln w="13970">
            <a:solidFill>
              <a:srgbClr val="14372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1097280" y="534009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pastoral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97280" y="56144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iglesia que conoce su comunidad puede servir con amor, verdad y responsabilidad.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3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que deben evitarse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sociología es útil, pero no debe convertirse en autoridad final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EAF2FA"/>
          </a:solidFill>
          <a:ln w="1016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70432" y="1636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Sociologismo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886200" y="163677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todo solo por factores sociales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FFF4CF"/>
          </a:solidFill>
          <a:ln w="1016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170432" y="2441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Relativismo cultural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886200" y="244144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toda práctica por ser cultural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3090672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EAF2FA"/>
          </a:solidFill>
          <a:ln w="1016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170432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Adaptación acrítica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886200" y="324612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principios bíblicos por presión social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895344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FFF4CF"/>
          </a:solidFill>
          <a:ln w="1016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170432" y="4050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la iglesia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886200" y="405079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verla solo como organización humana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4700016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EAF2FA"/>
          </a:solidFill>
          <a:ln w="1016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1170432" y="4855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análisis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886200" y="485546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con frases sin escuchar la realidad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417320" y="5623560"/>
            <a:ext cx="9326880" cy="566928"/>
          </a:xfrm>
          <a:prstGeom prst="roundRect">
            <a:avLst>
              <a:gd name="adj" fmla="val 12903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1645920" y="5852160"/>
            <a:ext cx="8869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os conforméis a este siglo, sino transformaos por medio de la renovación de vuestro entendimiento.”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580644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Romanos 12:2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6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 1: jóvenes ausentes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juicio rápido a una pregunta útil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FFF4CF"/>
          </a:solidFill>
          <a:ln w="1524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8992" y="2395728"/>
            <a:ext cx="4434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jóvenes asisten poco;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conectan más por redes;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 horarios han cambiado;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iglesia conserva actividades antiguas.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89320" y="3584448"/>
            <a:ext cx="548640" cy="0"/>
          </a:xfrm>
          <a:prstGeom prst="line">
            <a:avLst/>
          </a:prstGeom>
          <a:noFill/>
          <a:ln w="38100">
            <a:solidFill>
              <a:srgbClr val="D9A51C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6537960" y="146304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EAF2FA"/>
          </a:solidFill>
          <a:ln w="1524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812280" y="1737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sociológica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12280" y="2450592"/>
            <a:ext cx="4206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factores familiares, laborales, culturales y digitales están influyendo en la participación juvenil?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1228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juzgar, escuchar.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6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 2: iglesia y comunidad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guía sencilla para observar antes de planificar</a:t>
            </a:r>
            <a:endParaRPr lang="en-US" sz="1550" dirty="0"/>
          </a:p>
        </p:txBody>
      </p:sp>
      <p:pic>
        <p:nvPicPr>
          <p:cNvPr id="6" name="Image 0" descr="/mnt/data/a_wide_outdoor_rural_scene_showing_a_group_of_peop.png"/>
          <p:cNvPicPr>
            <a:picLocks noChangeAspect="1"/>
          </p:cNvPicPr>
          <p:nvPr/>
        </p:nvPicPr>
        <p:blipFill>
          <a:blip r:embed="rId3"/>
          <a:srcRect l="18636" r="18636"/>
          <a:stretch/>
        </p:blipFill>
        <p:spPr>
          <a:xfrm>
            <a:off x="713232" y="1389888"/>
            <a:ext cx="48920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536192"/>
            <a:ext cx="566928" cy="566928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172200" y="168249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949440" y="1856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conversar con familias, jóvenes y líderes</a:t>
            </a:r>
            <a:endParaRPr lang="en-US" sz="1470" dirty="0"/>
          </a:p>
        </p:txBody>
      </p:sp>
      <p:sp>
        <p:nvSpPr>
          <p:cNvPr id="11" name="Shape 8"/>
          <p:cNvSpPr/>
          <p:nvPr/>
        </p:nvSpPr>
        <p:spPr>
          <a:xfrm>
            <a:off x="6172200" y="2523744"/>
            <a:ext cx="566928" cy="566928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172200" y="26700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49440" y="2496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949440" y="28437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anotar necesidades, horarios y recursos</a:t>
            </a:r>
            <a:endParaRPr lang="en-US" sz="1470" dirty="0"/>
          </a:p>
        </p:txBody>
      </p:sp>
      <p:sp>
        <p:nvSpPr>
          <p:cNvPr id="15" name="Shape 12"/>
          <p:cNvSpPr/>
          <p:nvPr/>
        </p:nvSpPr>
        <p:spPr>
          <a:xfrm>
            <a:off x="6172200" y="3511296"/>
            <a:ext cx="566928" cy="566928"/>
          </a:xfrm>
          <a:prstGeom prst="ellipse">
            <a:avLst/>
          </a:prstGeom>
          <a:solidFill>
            <a:srgbClr val="003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172200" y="365760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49440" y="3483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Discernir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949440" y="38313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la realidad con principios bíblicos</a:t>
            </a:r>
            <a:endParaRPr lang="en-US" sz="1470" dirty="0"/>
          </a:p>
        </p:txBody>
      </p:sp>
      <p:sp>
        <p:nvSpPr>
          <p:cNvPr id="19" name="Shape 16"/>
          <p:cNvSpPr/>
          <p:nvPr/>
        </p:nvSpPr>
        <p:spPr>
          <a:xfrm>
            <a:off x="6172200" y="4498848"/>
            <a:ext cx="566928" cy="566928"/>
          </a:xfrm>
          <a:prstGeom prst="ellipse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6172200" y="464515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4471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49440" y="48188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una acción pastoral concreta</a:t>
            </a:r>
            <a:endParaRPr lang="en-US" sz="1470" dirty="0"/>
          </a:p>
        </p:txBody>
      </p:sp>
      <p:sp>
        <p:nvSpPr>
          <p:cNvPr id="23" name="Shape 20"/>
          <p:cNvSpPr/>
          <p:nvPr/>
        </p:nvSpPr>
        <p:spPr>
          <a:xfrm>
            <a:off x="6080760" y="548640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4CF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6309360" y="5715000"/>
            <a:ext cx="4572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“Seamos hacedores de la palabra, y no tan solamente oidores.”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309360" y="5605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1:22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8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Experimentación activa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mirada sociológica a mi iglesia</a:t>
            </a:r>
            <a:endParaRPr lang="en-US" sz="1550" dirty="0"/>
          </a:p>
        </p:txBody>
      </p:sp>
      <p:pic>
        <p:nvPicPr>
          <p:cNvPr id="6" name="Image 0" descr="/mnt/data/a_warm_softly_lit_indoor_scene_viewed_from_above.png"/>
          <p:cNvPicPr>
            <a:picLocks noChangeAspect="1"/>
          </p:cNvPicPr>
          <p:nvPr/>
        </p:nvPicPr>
        <p:blipFill>
          <a:blip r:embed="rId3"/>
          <a:srcRect l="18917" r="18917"/>
          <a:stretch/>
        </p:blipFill>
        <p:spPr>
          <a:xfrm>
            <a:off x="6446520" y="1417320"/>
            <a:ext cx="4828032" cy="43708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08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por escrito: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60120" y="2148840"/>
            <a:ext cx="5257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¿Dónde está ubicada mi iglesia?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grupos participan más y cuáles menos?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necesidades afectan a las familias?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cambios se ven en jóvenes, trabajo o cultura?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relación tiene la iglesia con su comunidad?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914400" y="5157216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143000" y="52669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43000" y="5541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una pregunta sociológica que ayude a servir mejor.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14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09728" cy="576072"/>
          </a:xfrm>
          <a:prstGeom prst="rect">
            <a:avLst/>
          </a:prstGeom>
          <a:solidFill>
            <a:srgbClr val="D9A51C"/>
          </a:solidFill>
          <a:ln w="12700">
            <a:solidFill>
              <a:srgbClr val="D9A5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749808" y="4297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de salida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98755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pregunta que conecta sociología, iglesia y comunidad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60120" y="1508760"/>
            <a:ext cx="10241280" cy="1417320"/>
          </a:xfrm>
          <a:prstGeom prst="roundRect">
            <a:avLst>
              <a:gd name="adj" fmla="val 7742"/>
            </a:avLst>
          </a:prstGeom>
          <a:solidFill>
            <a:srgbClr val="003B70"/>
          </a:solidFill>
          <a:ln w="12700">
            <a:solidFill>
              <a:srgbClr val="003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298448" y="187452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“¿Qué aspecto de mi iglesia o comunidad necesito comprender mejor para servir con más fidelidad?”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60120" y="3355848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EAF2FA"/>
          </a:solidFill>
          <a:ln w="1397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18872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92277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disminuye la participación de jóvenes?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17920" y="3355848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4652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92277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afecta la migración a las familias?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0120" y="4453128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EAF2FA"/>
          </a:solidFill>
          <a:ln w="13970">
            <a:solidFill>
              <a:srgbClr val="9FBF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118872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2005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necesidades tienen los adultos mayores?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17920" y="4453128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FFF4CF"/>
          </a:solidFill>
          <a:ln w="1397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502005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barreras impiden que vecinos se acerquen a la iglesia?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02920" y="6464808"/>
            <a:ext cx="11201400" cy="0"/>
          </a:xfrm>
          <a:prstGeom prst="line">
            <a:avLst/>
          </a:prstGeom>
          <a:noFill/>
          <a:ln w="13970">
            <a:solidFill>
              <a:srgbClr val="D9A5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566928" y="65288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STESIN · Introducción a la sociología · Sesión 1</a:t>
            </a:r>
            <a:endParaRPr lang="en-US" sz="750" dirty="0"/>
          </a:p>
        </p:txBody>
      </p:sp>
      <p:pic>
        <p:nvPicPr>
          <p:cNvPr id="22" name="Image 0" descr="/mnt/data/image(10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916" y="6419088"/>
            <a:ext cx="106979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" name="Image 0" descr="/mnt/data/a_wide_interior_scene_of_a_rustic_classroom_or_me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2"/>
          <p:cNvSpPr/>
          <p:nvPr/>
        </p:nvSpPr>
        <p:spPr>
          <a:xfrm>
            <a:off x="731520" y="822960"/>
            <a:ext cx="128016" cy="5212080"/>
          </a:xfrm>
          <a:prstGeom prst="rect">
            <a:avLst/>
          </a:prstGeom>
          <a:solidFill>
            <a:srgbClr val="D9A5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1024128" y="868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centrales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69848" y="1737360"/>
            <a:ext cx="60807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sociología ayuda a observar relaciones, grupos e instituciones.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Biblia es la autoridad final para la fe y la conducta.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iglesia sirve mejor cuando comprende su comunidad.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análisis social debe conducir a amor, verdad y misión.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42416" y="4901184"/>
            <a:ext cx="5897880" cy="667512"/>
          </a:xfrm>
          <a:prstGeom prst="roundRect">
            <a:avLst>
              <a:gd name="adj" fmla="val 10959"/>
            </a:avLst>
          </a:prstGeom>
          <a:solidFill>
            <a:srgbClr val="0B4E86"/>
          </a:solidFill>
          <a:ln w="17780">
            <a:solidFill>
              <a:srgbClr val="D9A5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1271016" y="5129784"/>
            <a:ext cx="5440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“Amarás a tu prójimo como a ti mismo.”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71016" y="518464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B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22:39</a:t>
            </a:r>
            <a:endParaRPr lang="en-US" sz="1400" dirty="0"/>
          </a:p>
        </p:txBody>
      </p:sp>
      <p:pic>
        <p:nvPicPr>
          <p:cNvPr id="11" name="Image 1" descr="/mnt/data/image(107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258" y="5321808"/>
            <a:ext cx="3146445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Microsoft Office PowerPoint</Application>
  <PresentationFormat>Panorámica</PresentationFormat>
  <Paragraphs>319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STESIN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1: Presentación del curso e introducción a la sociología</dc:title>
  <dc:subject>Introducción a la sociología - STESIN</dc:subject>
  <dc:creator>Dr. Frank Isaac Berrocal Aréstegui</dc:creator>
  <cp:lastModifiedBy>Frank Isaac Berrocal Aréstegui</cp:lastModifiedBy>
  <cp:revision>2</cp:revision>
  <dcterms:created xsi:type="dcterms:W3CDTF">2026-07-21T23:02:02Z</dcterms:created>
  <dcterms:modified xsi:type="dcterms:W3CDTF">2026-07-21T23:13:40Z</dcterms:modified>
</cp:coreProperties>
</file>