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5" autoAdjust="0"/>
    <p:restoredTop sz="94610"/>
  </p:normalViewPr>
  <p:slideViewPr>
    <p:cSldViewPr snapToGrid="0" snapToObjects="1">
      <p:cViewPr>
        <p:scale>
          <a:sx n="75" d="100"/>
          <a:sy n="75" d="100"/>
        </p:scale>
        <p:origin x="60" y="-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4381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301752"/>
          </a:xfrm>
          <a:prstGeom prst="rect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437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0" y="301752"/>
            <a:ext cx="310896" cy="624535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148" y="749808"/>
            <a:ext cx="4562345" cy="1325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24128" y="2423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D9A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2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05840" y="2770632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Sociedad, cultura y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cosmovisión cristiana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24128" y="4169664"/>
            <a:ext cx="5669280" cy="0"/>
          </a:xfrm>
          <a:prstGeom prst="line">
            <a:avLst/>
          </a:prstGeom>
          <a:noFill/>
          <a:ln w="254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1024128" y="442569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Asignatura: Introducción a la sociología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1024128" y="4818888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Docente: Dr. Frank Isaac Berrocal Aréstegui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1024128" y="5212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Ayacucho - 2026</a:t>
            </a:r>
            <a:endParaRPr lang="en-US" sz="1750" dirty="0"/>
          </a:p>
        </p:txBody>
      </p:sp>
      <p:sp>
        <p:nvSpPr>
          <p:cNvPr id="14" name="Shape 11"/>
          <p:cNvSpPr/>
          <p:nvPr/>
        </p:nvSpPr>
        <p:spPr>
          <a:xfrm>
            <a:off x="8275320" y="4901184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8522208" y="504748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5.º ciclo académico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de la sesión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Cultura, discernimiento bíblico y contextualización del evangelio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49808" y="1993392"/>
            <a:ext cx="2450592" cy="2697480"/>
          </a:xfrm>
          <a:prstGeom prst="roundRect">
            <a:avLst>
              <a:gd name="adj" fmla="val 4478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Shape 5"/>
          <p:cNvSpPr/>
          <p:nvPr/>
        </p:nvSpPr>
        <p:spPr>
          <a:xfrm>
            <a:off x="1435608" y="1481328"/>
            <a:ext cx="1051560" cy="1051560"/>
          </a:xfrm>
          <a:prstGeom prst="ellipse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1435608" y="1700784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87552" y="2350008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práctico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78408" y="3054096"/>
            <a:ext cx="1965960" cy="8686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¿Mandamiento bíblico o costumbre de iglesia?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3566160" y="1993392"/>
            <a:ext cx="2450592" cy="2697480"/>
          </a:xfrm>
          <a:prstGeom prst="roundRect">
            <a:avLst>
              <a:gd name="adj" fmla="val 4478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10"/>
          <p:cNvSpPr/>
          <p:nvPr/>
        </p:nvSpPr>
        <p:spPr>
          <a:xfrm>
            <a:off x="4251960" y="1481328"/>
            <a:ext cx="1051560" cy="1051560"/>
          </a:xfrm>
          <a:prstGeom prst="ellipse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4251960" y="1700784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803904" y="2350008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Conceptos base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94760" y="3054096"/>
            <a:ext cx="1965960" cy="8686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Sociedad, cultura, cosmovisión y valores.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382512" y="1993392"/>
            <a:ext cx="2450592" cy="2697480"/>
          </a:xfrm>
          <a:prstGeom prst="roundRect">
            <a:avLst>
              <a:gd name="adj" fmla="val 4478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Shape 15"/>
          <p:cNvSpPr/>
          <p:nvPr/>
        </p:nvSpPr>
        <p:spPr>
          <a:xfrm>
            <a:off x="7068312" y="1481328"/>
            <a:ext cx="1051560" cy="1051560"/>
          </a:xfrm>
          <a:prstGeom prst="ellipse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7068312" y="1700784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20256" y="2350008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bíblica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611112" y="3054096"/>
            <a:ext cx="1965960" cy="8686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Creación, caída, redención y restauración.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9198864" y="1993392"/>
            <a:ext cx="2450592" cy="2697480"/>
          </a:xfrm>
          <a:prstGeom prst="roundRect">
            <a:avLst>
              <a:gd name="adj" fmla="val 4478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Shape 20"/>
          <p:cNvSpPr/>
          <p:nvPr/>
        </p:nvSpPr>
        <p:spPr>
          <a:xfrm>
            <a:off x="9884664" y="1481328"/>
            <a:ext cx="1051560" cy="1051560"/>
          </a:xfrm>
          <a:prstGeom prst="ellipse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/>
          <p:nvPr/>
        </p:nvSpPr>
        <p:spPr>
          <a:xfrm>
            <a:off x="9884664" y="1700784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436608" y="2350008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427464" y="3054096"/>
            <a:ext cx="1965960" cy="8686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Semáforo cultural para decisiones pastorales.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1755648" y="5074920"/>
            <a:ext cx="8686800" cy="749808"/>
          </a:xfrm>
          <a:prstGeom prst="roundRect">
            <a:avLst>
              <a:gd name="adj" fmla="val 9756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/>
          <p:nvPr/>
        </p:nvSpPr>
        <p:spPr>
          <a:xfrm>
            <a:off x="1984248" y="5257800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os conforméis a este siglo, sino transformaos por medio de la renovación de vuestro entendimiento.”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984248" y="547725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Romanos 12:2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Text 28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31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 de aprendizaje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Comprender la cultura para servir con fidelidad bíblica y sensibilidad pastoral</a:t>
            </a:r>
            <a:endParaRPr lang="en-US" sz="1550" dirty="0"/>
          </a:p>
        </p:txBody>
      </p:sp>
      <p:pic>
        <p:nvPicPr>
          <p:cNvPr id="6" name="Image 0" descr="/mnt/data/a_wide_outdoor_scene_in_a_rural_tropical_setting.png"/>
          <p:cNvPicPr>
            <a:picLocks noChangeAspect="1"/>
          </p:cNvPicPr>
          <p:nvPr/>
        </p:nvPicPr>
        <p:blipFill>
          <a:blip r:embed="rId3"/>
          <a:srcRect l="16049" r="16049"/>
          <a:stretch/>
        </p:blipFill>
        <p:spPr>
          <a:xfrm>
            <a:off x="658368" y="1481328"/>
            <a:ext cx="5074920" cy="42062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5120640"/>
            <a:ext cx="5074920" cy="566928"/>
          </a:xfrm>
          <a:prstGeom prst="rect">
            <a:avLst/>
          </a:prstGeom>
          <a:solidFill>
            <a:srgbClr val="003B70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41248" y="5321808"/>
            <a:ext cx="46817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Selva y costa norte: comunidades reales, culturas vivas, iglesias concretas</a:t>
            </a:r>
            <a:endParaRPr lang="en-US" sz="1120" dirty="0"/>
          </a:p>
        </p:txBody>
      </p:sp>
      <p:sp>
        <p:nvSpPr>
          <p:cNvPr id="9" name="Text 6"/>
          <p:cNvSpPr/>
          <p:nvPr/>
        </p:nvSpPr>
        <p:spPr>
          <a:xfrm>
            <a:off x="6199632" y="15087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finalizar, el estudiante podrá: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355080" y="2148840"/>
            <a:ext cx="516636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definir sociedad, cultura y cosmovisión;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distinguir doctrina bíblica, tradición y costumbre;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evaluar prácticas culturales con criterio bíblico;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contextualizar sin alterar el evangelio.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236208" y="4892040"/>
            <a:ext cx="5074920" cy="868680"/>
          </a:xfrm>
          <a:prstGeom prst="roundRect">
            <a:avLst>
              <a:gd name="adj" fmla="val 8421"/>
            </a:avLst>
          </a:prstGeom>
          <a:solidFill>
            <a:srgbClr val="E9F3EF"/>
          </a:solidFill>
          <a:ln w="13970">
            <a:solidFill>
              <a:srgbClr val="14372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6455664" y="5029200"/>
            <a:ext cx="46360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fuerza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6455664" y="5422392"/>
            <a:ext cx="46360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cultura debe ser conocida, respetada y examinada; la Biblia conserva la autoridad final.</a:t>
            </a:r>
            <a:endParaRPr lang="en-US" sz="1480" dirty="0"/>
          </a:p>
        </p:txBody>
      </p:sp>
      <p:sp>
        <p:nvSpPr>
          <p:cNvPr id="14" name="Shape 11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16" name="Image 1" descr="/mnt/data/image(107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didáctica: ciclo de Kolb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Partimos de una experiencia eclesial y volvemos a decisiones pastorales concretas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3246120" y="3017520"/>
            <a:ext cx="1325880" cy="0"/>
          </a:xfrm>
          <a:prstGeom prst="line">
            <a:avLst/>
          </a:prstGeom>
          <a:noFill/>
          <a:ln w="25400">
            <a:solidFill>
              <a:srgbClr val="D9A51C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7" name="Shape 5"/>
          <p:cNvSpPr/>
          <p:nvPr/>
        </p:nvSpPr>
        <p:spPr>
          <a:xfrm>
            <a:off x="7086600" y="2176272"/>
            <a:ext cx="1097280" cy="822960"/>
          </a:xfrm>
          <a:prstGeom prst="line">
            <a:avLst/>
          </a:prstGeom>
          <a:noFill/>
          <a:ln w="25400">
            <a:solidFill>
              <a:srgbClr val="D9A51C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8" name="Shape 6"/>
          <p:cNvSpPr/>
          <p:nvPr/>
        </p:nvSpPr>
        <p:spPr>
          <a:xfrm>
            <a:off x="9144000" y="4370832"/>
            <a:ext cx="0" cy="685800"/>
          </a:xfrm>
          <a:prstGeom prst="line">
            <a:avLst/>
          </a:prstGeom>
          <a:noFill/>
          <a:ln w="25400">
            <a:solidFill>
              <a:srgbClr val="D9A51C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4983480" y="4773168"/>
            <a:ext cx="0" cy="0"/>
          </a:xfrm>
          <a:prstGeom prst="line">
            <a:avLst/>
          </a:prstGeom>
          <a:noFill/>
          <a:ln w="25400">
            <a:solidFill>
              <a:srgbClr val="D9A51C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8"/>
          <p:cNvSpPr/>
          <p:nvPr/>
        </p:nvSpPr>
        <p:spPr>
          <a:xfrm>
            <a:off x="1005840" y="2331720"/>
            <a:ext cx="2880360" cy="1417320"/>
          </a:xfrm>
          <a:prstGeom prst="roundRect">
            <a:avLst>
              <a:gd name="adj" fmla="val 7742"/>
            </a:avLst>
          </a:prstGeom>
          <a:solidFill>
            <a:srgbClr val="EAF2FA"/>
          </a:solidFill>
          <a:ln w="15240">
            <a:solidFill>
              <a:srgbClr val="B9D1E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9"/>
          <p:cNvSpPr/>
          <p:nvPr/>
        </p:nvSpPr>
        <p:spPr>
          <a:xfrm>
            <a:off x="1207008" y="2624328"/>
            <a:ext cx="777240" cy="777240"/>
          </a:xfrm>
          <a:prstGeom prst="ellipse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1207008" y="2807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75688" y="2514600"/>
            <a:ext cx="1600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concreta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2075688" y="31729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sobre culto, música y vestimenta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00600" y="1627632"/>
            <a:ext cx="2880360" cy="1417320"/>
          </a:xfrm>
          <a:prstGeom prst="roundRect">
            <a:avLst>
              <a:gd name="adj" fmla="val 7742"/>
            </a:avLst>
          </a:prstGeom>
          <a:solidFill>
            <a:srgbClr val="FFF4CF"/>
          </a:solidFill>
          <a:ln w="1524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4"/>
          <p:cNvSpPr/>
          <p:nvPr/>
        </p:nvSpPr>
        <p:spPr>
          <a:xfrm>
            <a:off x="5001768" y="1920240"/>
            <a:ext cx="777240" cy="777240"/>
          </a:xfrm>
          <a:prstGeom prst="ellipse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5001768" y="21031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70448" y="1810512"/>
            <a:ext cx="1600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reflexiva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5870448" y="24688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¿Doctrina, tradición o preferencia?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321040" y="2331720"/>
            <a:ext cx="2880360" cy="1417320"/>
          </a:xfrm>
          <a:prstGeom prst="roundRect">
            <a:avLst>
              <a:gd name="adj" fmla="val 7742"/>
            </a:avLst>
          </a:prstGeom>
          <a:solidFill>
            <a:srgbClr val="EAF2FA"/>
          </a:solidFill>
          <a:ln w="15240">
            <a:solidFill>
              <a:srgbClr val="B9D1E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Shape 19"/>
          <p:cNvSpPr/>
          <p:nvPr/>
        </p:nvSpPr>
        <p:spPr>
          <a:xfrm>
            <a:off x="8522208" y="2624328"/>
            <a:ext cx="777240" cy="777240"/>
          </a:xfrm>
          <a:prstGeom prst="ellipse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8522208" y="2807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390888" y="2514600"/>
            <a:ext cx="1600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Conceptos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390888" y="31729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Cultura, cosmovisión y discernimiento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800600" y="4407408"/>
            <a:ext cx="2880360" cy="1417320"/>
          </a:xfrm>
          <a:prstGeom prst="roundRect">
            <a:avLst>
              <a:gd name="adj" fmla="val 7742"/>
            </a:avLst>
          </a:prstGeom>
          <a:solidFill>
            <a:srgbClr val="FFF4CF"/>
          </a:solidFill>
          <a:ln w="1524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Shape 24"/>
          <p:cNvSpPr/>
          <p:nvPr/>
        </p:nvSpPr>
        <p:spPr>
          <a:xfrm>
            <a:off x="5001768" y="4700016"/>
            <a:ext cx="777240" cy="777240"/>
          </a:xfrm>
          <a:prstGeom prst="ellipse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/>
          <p:nvPr/>
        </p:nvSpPr>
        <p:spPr>
          <a:xfrm>
            <a:off x="5001768" y="488289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870448" y="4590288"/>
            <a:ext cx="1600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Experimentación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5870448" y="5248656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Semáforo cultural y aplicación local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97280" y="5961888"/>
            <a:ext cx="9966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objetivo es aprender a escuchar la cultura sin entregar la verdad bíblica.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30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33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3B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" name="Image 0" descr="/mnt/data/a_realistic_indoor_meeting_or_bible_study_scene_sh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5212080" cy="6858000"/>
          </a:xfrm>
          <a:prstGeom prst="rect">
            <a:avLst/>
          </a:prstGeom>
          <a:solidFill>
            <a:srgbClr val="003B70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3"/>
          <p:cNvSpPr/>
          <p:nvPr/>
        </p:nvSpPr>
        <p:spPr>
          <a:xfrm>
            <a:off x="566928" y="914400"/>
            <a:ext cx="128016" cy="4389120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59536" y="960120"/>
            <a:ext cx="4160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práctico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96112" y="2944368"/>
            <a:ext cx="3794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E9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¿Mandamiento bíblico, tradición denominacional o costumbre local?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11" name="Image 1" descr="/mnt/data/image(107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68680" y="4773168"/>
            <a:ext cx="2514600" cy="347472"/>
          </a:xfrm>
          <a:prstGeom prst="roundRect">
            <a:avLst>
              <a:gd name="adj" fmla="val 21053"/>
            </a:avLst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9"/>
          <p:cNvSpPr/>
          <p:nvPr/>
        </p:nvSpPr>
        <p:spPr>
          <a:xfrm>
            <a:off x="1014984" y="4846320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 CONCRETA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Caso: una iglesia en tensión cultural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congregación recibe familias de la selva, la costa norte y otros lugares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77240" y="150876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978408" y="1655064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78408" y="2039112"/>
            <a:ext cx="30266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iglesia usa himnos antiguos, vestimenta formal y horarios tradicionales. Algunos lo ven como reverencia y buen testimonio.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416552" y="150876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617720" y="1655064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Nueva propuesta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17720" y="2039112"/>
            <a:ext cx="30266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jóvenes sugieren cantos con ritmos regionales, instrumentos locales, ropa sencilla y horarios adecuados al trabajo.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065008" y="1508760"/>
            <a:ext cx="3246120" cy="1874520"/>
          </a:xfrm>
          <a:prstGeom prst="roundRect">
            <a:avLst>
              <a:gd name="adj" fmla="val 3902"/>
            </a:avLst>
          </a:prstGeom>
          <a:solidFill>
            <a:srgbClr val="FDECEC"/>
          </a:solidFill>
          <a:ln w="12700">
            <a:solidFill>
              <a:srgbClr val="A8323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8266176" y="1655064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66176" y="2039112"/>
            <a:ext cx="2843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Algunos líderes afirman que esos cambios permitirían que “el mundo” entre a la iglesia.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1847088" y="4142232"/>
            <a:ext cx="8458200" cy="822960"/>
          </a:xfrm>
          <a:prstGeom prst="roundRect">
            <a:avLst>
              <a:gd name="adj" fmla="val 8889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2075688" y="4325112"/>
            <a:ext cx="8001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“Mejor es adquirir sabiduría que oro preciado.”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2075688" y="4617720"/>
            <a:ext cx="800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Proverbios 16:16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80160" y="532180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Preguntas: ¿qué debe conservarse?, ¿qué puede cambiar?, ¿qué debe corregirse?</a:t>
            </a:r>
            <a:endParaRPr lang="en-US" sz="1850" dirty="0"/>
          </a:p>
        </p:txBody>
      </p:sp>
      <p:sp>
        <p:nvSpPr>
          <p:cNvPr id="19" name="Shape 17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21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para abrir el discernimiento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decidir, la iglesia debe escuchar, distinguir y examinar</a:t>
            </a:r>
            <a:endParaRPr lang="en-US" sz="1550" dirty="0"/>
          </a:p>
        </p:txBody>
      </p:sp>
      <p:pic>
        <p:nvPicPr>
          <p:cNvPr id="6" name="Image 0" descr="/mnt/data/a_cozy_rustic_tabletop_still_life_scene_in_warm_na.png"/>
          <p:cNvPicPr>
            <a:picLocks noChangeAspect="1"/>
          </p:cNvPicPr>
          <p:nvPr/>
        </p:nvPicPr>
        <p:blipFill>
          <a:blip r:embed="rId3"/>
          <a:srcRect l="18182" r="18182"/>
          <a:stretch/>
        </p:blipFill>
        <p:spPr>
          <a:xfrm>
            <a:off x="6446520" y="1417320"/>
            <a:ext cx="4983480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" y="1554480"/>
            <a:ext cx="521208" cy="521208"/>
          </a:xfrm>
          <a:prstGeom prst="ellipse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22960" y="1682496"/>
            <a:ext cx="521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554480" y="1609344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2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aspectos del caso son doctrina bíblica?</a:t>
            </a:r>
            <a:endParaRPr lang="en-US" sz="1720" dirty="0"/>
          </a:p>
        </p:txBody>
      </p:sp>
      <p:sp>
        <p:nvSpPr>
          <p:cNvPr id="10" name="Shape 7"/>
          <p:cNvSpPr/>
          <p:nvPr/>
        </p:nvSpPr>
        <p:spPr>
          <a:xfrm>
            <a:off x="822960" y="2514600"/>
            <a:ext cx="521208" cy="521208"/>
          </a:xfrm>
          <a:prstGeom prst="ellipse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822960" y="2642616"/>
            <a:ext cx="521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554480" y="2569464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2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aspectos son costumbres culturales?</a:t>
            </a:r>
            <a:endParaRPr lang="en-US" sz="1720" dirty="0"/>
          </a:p>
        </p:txBody>
      </p:sp>
      <p:sp>
        <p:nvSpPr>
          <p:cNvPr id="13" name="Shape 10"/>
          <p:cNvSpPr/>
          <p:nvPr/>
        </p:nvSpPr>
        <p:spPr>
          <a:xfrm>
            <a:off x="822960" y="3474720"/>
            <a:ext cx="521208" cy="521208"/>
          </a:xfrm>
          <a:prstGeom prst="ellipse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/>
          <p:cNvSpPr/>
          <p:nvPr/>
        </p:nvSpPr>
        <p:spPr>
          <a:xfrm>
            <a:off x="822960" y="3602736"/>
            <a:ext cx="521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554480" y="3529584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2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cambios pueden edificar sin alterar el evangelio?</a:t>
            </a:r>
            <a:endParaRPr lang="en-US" sz="1720" dirty="0"/>
          </a:p>
        </p:txBody>
      </p:sp>
      <p:sp>
        <p:nvSpPr>
          <p:cNvPr id="16" name="Shape 13"/>
          <p:cNvSpPr/>
          <p:nvPr/>
        </p:nvSpPr>
        <p:spPr>
          <a:xfrm>
            <a:off x="822960" y="4434840"/>
            <a:ext cx="521208" cy="521208"/>
          </a:xfrm>
          <a:prstGeom prst="ellipse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822960" y="4562856"/>
            <a:ext cx="521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554480" y="4489704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2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riesgos hay en aceptar todo sin discernir?</a:t>
            </a:r>
            <a:endParaRPr lang="en-US" sz="1720" dirty="0"/>
          </a:p>
        </p:txBody>
      </p:sp>
      <p:sp>
        <p:nvSpPr>
          <p:cNvPr id="19" name="Shape 16"/>
          <p:cNvSpPr/>
          <p:nvPr/>
        </p:nvSpPr>
        <p:spPr>
          <a:xfrm>
            <a:off x="914400" y="530352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E9F3EF"/>
          </a:solidFill>
          <a:ln w="13970">
            <a:solidFill>
              <a:srgbClr val="14372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1133856" y="5440680"/>
            <a:ext cx="45445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 pastoral</a:t>
            </a:r>
            <a:endParaRPr lang="en-US" sz="1750" dirty="0"/>
          </a:p>
        </p:txBody>
      </p:sp>
      <p:sp>
        <p:nvSpPr>
          <p:cNvPr id="21" name="Text 18"/>
          <p:cNvSpPr/>
          <p:nvPr/>
        </p:nvSpPr>
        <p:spPr>
          <a:xfrm>
            <a:off x="1133856" y="5833872"/>
            <a:ext cx="454456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toda práctica antigua es bíblica; no toda práctica nueva es infiel.</a:t>
            </a:r>
            <a:endParaRPr lang="en-US" sz="1480" dirty="0"/>
          </a:p>
        </p:txBody>
      </p:sp>
      <p:sp>
        <p:nvSpPr>
          <p:cNvPr id="22" name="Shape 19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24" name="Image 1" descr="/mnt/data/image(107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reflexiva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conflicto no es solo “jóvenes contra adultos”; también es lectura cultural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1627632"/>
            <a:ext cx="3246120" cy="1371600"/>
          </a:xfrm>
          <a:prstGeom prst="roundRect">
            <a:avLst>
              <a:gd name="adj" fmla="val 5333"/>
            </a:avLst>
          </a:prstGeom>
          <a:solidFill>
            <a:srgbClr val="FFF4CF"/>
          </a:solidFill>
          <a:ln w="1397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1042416" y="1764792"/>
            <a:ext cx="28072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se ve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042416" y="2157984"/>
            <a:ext cx="28072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Tensión por música, vestimenta, horarios y participación juvenil.</a:t>
            </a:r>
            <a:endParaRPr lang="en-US" sz="1480" dirty="0"/>
          </a:p>
        </p:txBody>
      </p:sp>
      <p:sp>
        <p:nvSpPr>
          <p:cNvPr id="9" name="Shape 7"/>
          <p:cNvSpPr/>
          <p:nvPr/>
        </p:nvSpPr>
        <p:spPr>
          <a:xfrm>
            <a:off x="4434840" y="162763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EAF2FA"/>
          </a:solidFill>
          <a:ln w="1397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654296" y="1764792"/>
            <a:ext cx="31272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hay debajo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4654296" y="2157984"/>
            <a:ext cx="31272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Temor a perder identidad, deseo de ser escuchados, diferencias regionales y generacionales.</a:t>
            </a:r>
            <a:endParaRPr lang="en-US" sz="1480" dirty="0"/>
          </a:p>
        </p:txBody>
      </p:sp>
      <p:sp>
        <p:nvSpPr>
          <p:cNvPr id="12" name="Shape 10"/>
          <p:cNvSpPr/>
          <p:nvPr/>
        </p:nvSpPr>
        <p:spPr>
          <a:xfrm>
            <a:off x="8366760" y="1627632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E9F3EF"/>
          </a:solidFill>
          <a:ln w="13970">
            <a:solidFill>
              <a:srgbClr val="14372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8586216" y="1764792"/>
            <a:ext cx="2532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clave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8586216" y="2157984"/>
            <a:ext cx="25328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¿Estamos defendiendo una enseñanza bíblica o una preferencia cultural?</a:t>
            </a:r>
            <a:endParaRPr lang="en-US" sz="1480" dirty="0"/>
          </a:p>
        </p:txBody>
      </p:sp>
      <p:sp>
        <p:nvSpPr>
          <p:cNvPr id="15" name="Shape 13"/>
          <p:cNvSpPr/>
          <p:nvPr/>
        </p:nvSpPr>
        <p:spPr>
          <a:xfrm>
            <a:off x="2468880" y="3319272"/>
            <a:ext cx="0" cy="1463040"/>
          </a:xfrm>
          <a:prstGeom prst="line">
            <a:avLst/>
          </a:prstGeom>
          <a:noFill/>
          <a:ln w="25400">
            <a:solidFill>
              <a:srgbClr val="D9A51C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4"/>
          <p:cNvSpPr/>
          <p:nvPr/>
        </p:nvSpPr>
        <p:spPr>
          <a:xfrm>
            <a:off x="6217920" y="3319272"/>
            <a:ext cx="0" cy="1463040"/>
          </a:xfrm>
          <a:prstGeom prst="line">
            <a:avLst/>
          </a:prstGeom>
          <a:noFill/>
          <a:ln w="25400">
            <a:solidFill>
              <a:srgbClr val="D9A51C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7" name="Shape 15"/>
          <p:cNvSpPr/>
          <p:nvPr/>
        </p:nvSpPr>
        <p:spPr>
          <a:xfrm>
            <a:off x="9875520" y="3319272"/>
            <a:ext cx="0" cy="1463040"/>
          </a:xfrm>
          <a:prstGeom prst="line">
            <a:avLst/>
          </a:prstGeom>
          <a:noFill/>
          <a:ln w="25400">
            <a:solidFill>
              <a:srgbClr val="D9A51C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1444752" y="4782312"/>
            <a:ext cx="93268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1645920" y="4928616"/>
            <a:ext cx="8924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Discernimiento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645920" y="5312664"/>
            <a:ext cx="89245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Escuchar la historia de la iglesia, reconocer valores, examinar motivos y someter cada decisión a la Escritura.</a:t>
            </a:r>
            <a:endParaRPr lang="en-US" sz="1480" dirty="0"/>
          </a:p>
        </p:txBody>
      </p:sp>
      <p:sp>
        <p:nvSpPr>
          <p:cNvPr id="21" name="Shape 19"/>
          <p:cNvSpPr/>
          <p:nvPr/>
        </p:nvSpPr>
        <p:spPr>
          <a:xfrm>
            <a:off x="2743200" y="5650992"/>
            <a:ext cx="6675120" cy="502920"/>
          </a:xfrm>
          <a:prstGeom prst="roundRect">
            <a:avLst>
              <a:gd name="adj" fmla="val 14545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2971800" y="5833872"/>
            <a:ext cx="6217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“Todo se haga decentemente y con orden.”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2971800" y="580644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Corintios 14:40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26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conceptos fundamentales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 herramientas para leer la realidad donde la iglesia sirve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41248" y="1828800"/>
            <a:ext cx="3154680" cy="2331720"/>
          </a:xfrm>
          <a:prstGeom prst="roundRect">
            <a:avLst>
              <a:gd name="adj" fmla="val 3137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1042416" y="197510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Sociedad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2416" y="2359152"/>
            <a:ext cx="27523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organizadas en relaciones, instituciones, normas y formas de vida compartidas.</a:t>
            </a:r>
            <a:endParaRPr lang="en-US" sz="1620" dirty="0"/>
          </a:p>
        </p:txBody>
      </p:sp>
      <p:sp>
        <p:nvSpPr>
          <p:cNvPr id="9" name="Shape 7"/>
          <p:cNvSpPr/>
          <p:nvPr/>
        </p:nvSpPr>
        <p:spPr>
          <a:xfrm>
            <a:off x="4636008" y="1828800"/>
            <a:ext cx="3154680" cy="2331720"/>
          </a:xfrm>
          <a:prstGeom prst="roundRect">
            <a:avLst>
              <a:gd name="adj" fmla="val 3137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837176" y="197510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37176" y="2359152"/>
            <a:ext cx="27523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Valores, creencias, costumbres, símbolos, lenguaje y comportamientos aprendidos.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8430768" y="1828800"/>
            <a:ext cx="3154680" cy="2331720"/>
          </a:xfrm>
          <a:prstGeom prst="roundRect">
            <a:avLst>
              <a:gd name="adj" fmla="val 3137"/>
            </a:avLst>
          </a:prstGeom>
          <a:solidFill>
            <a:srgbClr val="E9F3EF"/>
          </a:solidFill>
          <a:ln w="12700">
            <a:solidFill>
              <a:srgbClr val="14372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8631936" y="197510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Cosmovisión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631936" y="2359152"/>
            <a:ext cx="27523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creencias básicas que responde quiénes somos, qué es verdad y cómo debemos vivir.</a:t>
            </a:r>
            <a:endParaRPr lang="en-US" sz="1620" dirty="0"/>
          </a:p>
        </p:txBody>
      </p:sp>
      <p:sp>
        <p:nvSpPr>
          <p:cNvPr id="15" name="Text 13"/>
          <p:cNvSpPr/>
          <p:nvPr/>
        </p:nvSpPr>
        <p:spPr>
          <a:xfrm>
            <a:off x="1143000" y="4983480"/>
            <a:ext cx="9921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sociología ayuda a describir y comprender; la Biblia orienta el discernimiento final.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2103120" y="555955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2331720" y="5742432"/>
            <a:ext cx="7589520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 un solo linaje ha hecho todo el linaje de los hombres.”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331720" y="577900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Hechos 17:26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21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Elementos de la cultura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una comunidad aprende, comparte y transmite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1024128" y="174650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24128" y="213055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importante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0" y="16002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773168" y="174650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73168" y="213055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permitido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321040" y="16002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8522208" y="174650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Creencias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13055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considerado verdadero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33832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1024128" y="352958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24128" y="391363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representa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0" y="33832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4773168" y="352958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773168" y="391363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comunica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321040" y="33832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8522208" y="352958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Costumbres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522208" y="391363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habitual</a:t>
            </a:r>
            <a:endParaRPr lang="en-US" sz="1500" dirty="0"/>
          </a:p>
        </p:txBody>
      </p:sp>
      <p:pic>
        <p:nvPicPr>
          <p:cNvPr id="24" name="Image 0" descr="/mnt/data/a_cozy_rustic_tabletop_still_life_scene_in_warm_na.png"/>
          <p:cNvPicPr>
            <a:picLocks noChangeAspect="1"/>
          </p:cNvPicPr>
          <p:nvPr/>
        </p:nvPicPr>
        <p:blipFill>
          <a:blip r:embed="rId3"/>
          <a:srcRect t="24424" b="24424"/>
          <a:stretch/>
        </p:blipFill>
        <p:spPr>
          <a:xfrm>
            <a:off x="914400" y="5074920"/>
            <a:ext cx="3017520" cy="86868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4251960" y="517550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2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cultura no es biológica: se aprende en la familia, la comunidad, la escuela, la iglesia y los medios.</a:t>
            </a:r>
            <a:endParaRPr lang="en-US" sz="1820" dirty="0"/>
          </a:p>
        </p:txBody>
      </p:sp>
      <p:sp>
        <p:nvSpPr>
          <p:cNvPr id="26" name="Shape 23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4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28" name="Image 1" descr="/mnt/data/image(107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 bíblico para mirar la cultura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diversidad humana debe interpretarse bajo la autoridad de Dios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77240" y="150876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978408" y="1655064"/>
            <a:ext cx="4718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039112"/>
            <a:ext cx="4718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Gn. 1:27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ser humano porta imagen de Dios.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92240" y="150876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6693408" y="1655064"/>
            <a:ext cx="4718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93408" y="2039112"/>
            <a:ext cx="4718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Hch. 17:26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Dios gobierna pueblos, tiempos y lugares.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77240" y="324612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978408" y="3392424"/>
            <a:ext cx="4718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Caída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78408" y="3776472"/>
            <a:ext cx="4718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Ro. 3:23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pecado afecta personas, relaciones y costumbres.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92240" y="324612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6693408" y="3392424"/>
            <a:ext cx="4718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Palabra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693408" y="3776472"/>
            <a:ext cx="4718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Ti. 3:16-17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Escritura enseña, corrige e instruye.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2057400" y="5166360"/>
            <a:ext cx="8092440" cy="694944"/>
          </a:xfrm>
          <a:prstGeom prst="roundRect">
            <a:avLst>
              <a:gd name="adj" fmla="val 10526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2286000" y="5349240"/>
            <a:ext cx="7635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“La cultura se escucha; la Escritura discierne.”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286000" y="5513832"/>
            <a:ext cx="7635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Principio de la sesión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23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Cosmovisión cristiana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grandes verdades para interpretar la realidad social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1444752" y="1627632"/>
            <a:ext cx="1261872" cy="1261872"/>
          </a:xfrm>
          <a:prstGeom prst="ellipse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1444752" y="1938528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3182112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115568" y="3328416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15568" y="3712464"/>
            <a:ext cx="1929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Dios creó con orden, propósito y dignidad.</a:t>
            </a:r>
            <a:endParaRPr lang="en-US" sz="1380" dirty="0"/>
          </a:p>
        </p:txBody>
      </p:sp>
      <p:sp>
        <p:nvSpPr>
          <p:cNvPr id="11" name="Shape 9"/>
          <p:cNvSpPr/>
          <p:nvPr/>
        </p:nvSpPr>
        <p:spPr>
          <a:xfrm>
            <a:off x="4187952" y="1627632"/>
            <a:ext cx="1261872" cy="1261872"/>
          </a:xfrm>
          <a:prstGeom prst="ellipse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4187952" y="1938528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0" y="3182112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3858768" y="3328416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Caída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858768" y="3712464"/>
            <a:ext cx="1929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pecado desordena personas, familias e instituciones.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6931152" y="1627632"/>
            <a:ext cx="1261872" cy="1261872"/>
          </a:xfrm>
          <a:prstGeom prst="ellipse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6931152" y="1938528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0" y="3182112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6601968" y="3328416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Redención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601968" y="3712464"/>
            <a:ext cx="1929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Cristo reconcilia al ser humano con Dios.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9674352" y="1627632"/>
            <a:ext cx="1261872" cy="1261872"/>
          </a:xfrm>
          <a:prstGeom prst="ellipse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9674352" y="1938528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144000" y="3182112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/>
          <p:nvPr/>
        </p:nvSpPr>
        <p:spPr>
          <a:xfrm>
            <a:off x="9345168" y="3328416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Restauración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345168" y="3712464"/>
            <a:ext cx="1929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esperanza final orienta una vida fiel hoy.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2651760" y="5349240"/>
            <a:ext cx="6858000" cy="566928"/>
          </a:xfrm>
          <a:prstGeom prst="roundRect">
            <a:avLst>
              <a:gd name="adj" fmla="val 12903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/>
          <p:nvPr/>
        </p:nvSpPr>
        <p:spPr>
          <a:xfrm>
            <a:off x="2880360" y="5532120"/>
            <a:ext cx="6400800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“Porque de tal manera amó Dios al mundo...”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880360" y="5568696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Juan 3:16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Text 28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31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cultura desde una mirada bíblica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rechazo automático ni aceptación acrítica</a:t>
            </a:r>
            <a:endParaRPr lang="en-US" sz="1550" dirty="0"/>
          </a:p>
        </p:txBody>
      </p:sp>
      <p:pic>
        <p:nvPicPr>
          <p:cNvPr id="6" name="Image 0" descr="/mnt/data/a_wide_outdoor_scene_in_a_rural_tropical_setting.png"/>
          <p:cNvPicPr>
            <a:picLocks noChangeAspect="1"/>
          </p:cNvPicPr>
          <p:nvPr/>
        </p:nvPicPr>
        <p:blipFill>
          <a:blip r:embed="rId3"/>
          <a:srcRect l="17840" r="17840"/>
          <a:stretch/>
        </p:blipFill>
        <p:spPr>
          <a:xfrm>
            <a:off x="658368" y="1481328"/>
            <a:ext cx="475488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806440" y="141732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6007608" y="156362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Refleja capacidades dadas por Dios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6007608" y="1947672"/>
            <a:ext cx="5038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Lenguaje, arte, trabajo, organización y creatividad pueden expresar gracia común.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806440" y="2816352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FDECEC"/>
          </a:solidFill>
          <a:ln w="12700">
            <a:solidFill>
              <a:srgbClr val="A8323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6007608" y="2962656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Está afectada por el pecado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6007608" y="3346704"/>
            <a:ext cx="5038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cultura puede normalizar injusticia, idolatría, violencia o abuso de poder.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806440" y="4224528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E9F3EF"/>
          </a:solidFill>
          <a:ln w="12700">
            <a:solidFill>
              <a:srgbClr val="14372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/>
          <p:cNvSpPr/>
          <p:nvPr/>
        </p:nvSpPr>
        <p:spPr>
          <a:xfrm>
            <a:off x="6007608" y="4370832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Puede ser transformada</a:t>
            </a:r>
            <a:endParaRPr lang="en-US" sz="1750" dirty="0"/>
          </a:p>
        </p:txBody>
      </p:sp>
      <p:sp>
        <p:nvSpPr>
          <p:cNvPr id="15" name="Text 12"/>
          <p:cNvSpPr/>
          <p:nvPr/>
        </p:nvSpPr>
        <p:spPr>
          <a:xfrm>
            <a:off x="6007608" y="4754880"/>
            <a:ext cx="5038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evangelio confronta el pecado, conserva lo bueno y reforma la vida comunitaria.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18" name="Image 1" descr="/mnt/data/image(107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respuestas pastorales ante la cultura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Aceptar, transformar o rechazar con base bíblica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04672" y="1600200"/>
            <a:ext cx="3383280" cy="3108960"/>
          </a:xfrm>
          <a:prstGeom prst="roundRect">
            <a:avLst>
              <a:gd name="adj" fmla="val 2353"/>
            </a:avLst>
          </a:prstGeom>
          <a:solidFill>
            <a:srgbClr val="E9F3EF"/>
          </a:solidFill>
          <a:ln w="12700">
            <a:solidFill>
              <a:srgbClr val="14372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1005840" y="1746504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Aceptar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005840" y="2130552"/>
            <a:ext cx="298094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Prácticas que no contradicen la Escritura: idioma local, comidas, horarios, música regional con contenido bíblico.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407408" y="1600200"/>
            <a:ext cx="3383280" cy="3108960"/>
          </a:xfrm>
          <a:prstGeom prst="roundRect">
            <a:avLst>
              <a:gd name="adj" fmla="val 2353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608576" y="1746504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Transformar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608576" y="2130552"/>
            <a:ext cx="298094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Prácticas con elementos valiosos, pero que necesitan límites, enseñanza y renovación bíblica.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010144" y="1600200"/>
            <a:ext cx="3383280" cy="3108960"/>
          </a:xfrm>
          <a:prstGeom prst="roundRect">
            <a:avLst>
              <a:gd name="adj" fmla="val 2353"/>
            </a:avLst>
          </a:prstGeom>
          <a:solidFill>
            <a:srgbClr val="FDECEC"/>
          </a:solidFill>
          <a:ln w="12700">
            <a:solidFill>
              <a:srgbClr val="A8323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8211312" y="1746504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Rechazar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8211312" y="2130552"/>
            <a:ext cx="298094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Prácticas incompatibles: idolatría, hechicería, violencia, embriaguez, corrupción, abuso o discriminación.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2395728" y="5358384"/>
            <a:ext cx="7406640" cy="566928"/>
          </a:xfrm>
          <a:prstGeom prst="roundRect">
            <a:avLst>
              <a:gd name="adj" fmla="val 12903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2624328" y="5541264"/>
            <a:ext cx="6949440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“Examinadlo todo; retened lo bueno.”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2624328" y="557784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Tesalonicenses 5:21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20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3B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" name="Image 0" descr="/mnt/data/a_realistic_documentary_style_outdoor_community_m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6766560" y="0"/>
            <a:ext cx="5422392" cy="6858000"/>
          </a:xfrm>
          <a:prstGeom prst="rect">
            <a:avLst/>
          </a:prstGeom>
          <a:solidFill>
            <a:srgbClr val="003B70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3"/>
          <p:cNvSpPr/>
          <p:nvPr/>
        </p:nvSpPr>
        <p:spPr>
          <a:xfrm>
            <a:off x="7333488" y="914400"/>
            <a:ext cx="128016" cy="4389120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7626096" y="960120"/>
            <a:ext cx="4160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el contexto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662672" y="2944368"/>
            <a:ext cx="3794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E9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Moyobamba, Sullana y zonas aledañas: familia, trabajo, migración, juventud, economía local y fe.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11" name="Image 1" descr="/mnt/data/image(107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525512" y="4828032"/>
            <a:ext cx="2514600" cy="347472"/>
          </a:xfrm>
          <a:prstGeom prst="roundRect">
            <a:avLst>
              <a:gd name="adj" fmla="val 21053"/>
            </a:avLst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9"/>
          <p:cNvSpPr/>
          <p:nvPr/>
        </p:nvSpPr>
        <p:spPr>
          <a:xfrm>
            <a:off x="7671816" y="4901184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 MINISTERIAL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Contextos que la iglesia debe escuchar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ministerio fiel sin conocimiento del lugar y de las personas</a:t>
            </a:r>
            <a:endParaRPr lang="en-US" sz="1550" dirty="0"/>
          </a:p>
        </p:txBody>
      </p:sp>
      <p:pic>
        <p:nvPicPr>
          <p:cNvPr id="6" name="Image 0" descr="/mnt/data/a_wide_outdoor_scene_in_a_rural_tropical_setting.png"/>
          <p:cNvPicPr>
            <a:picLocks noChangeAspect="1"/>
          </p:cNvPicPr>
          <p:nvPr/>
        </p:nvPicPr>
        <p:blipFill>
          <a:blip r:embed="rId3"/>
          <a:srcRect l="26550" r="26550"/>
          <a:stretch/>
        </p:blipFill>
        <p:spPr>
          <a:xfrm>
            <a:off x="713232" y="1417320"/>
            <a:ext cx="3657600" cy="4389120"/>
          </a:xfrm>
          <a:prstGeom prst="rect">
            <a:avLst/>
          </a:prstGeom>
        </p:spPr>
      </p:pic>
      <p:pic>
        <p:nvPicPr>
          <p:cNvPr id="7" name="Image 1" descr="/mnt/data/a_realistic_documentary_style_outdoor_community_m.png"/>
          <p:cNvPicPr>
            <a:picLocks noChangeAspect="1"/>
          </p:cNvPicPr>
          <p:nvPr/>
        </p:nvPicPr>
        <p:blipFill>
          <a:blip r:embed="rId4"/>
          <a:srcRect l="27429" r="27429"/>
          <a:stretch/>
        </p:blipFill>
        <p:spPr>
          <a:xfrm>
            <a:off x="7909560" y="1417320"/>
            <a:ext cx="3520440" cy="4389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53712" y="1572768"/>
            <a:ext cx="2971800" cy="1673352"/>
          </a:xfrm>
          <a:prstGeom prst="roundRect">
            <a:avLst>
              <a:gd name="adj" fmla="val 4372"/>
            </a:avLst>
          </a:prstGeom>
          <a:solidFill>
            <a:srgbClr val="E9F3EF"/>
          </a:solidFill>
          <a:ln w="12700">
            <a:solidFill>
              <a:srgbClr val="14372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5"/>
          <p:cNvSpPr/>
          <p:nvPr/>
        </p:nvSpPr>
        <p:spPr>
          <a:xfrm>
            <a:off x="4754880" y="1719072"/>
            <a:ext cx="2569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rural de selva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754880" y="2103120"/>
            <a:ext cx="256946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Agricultura, redes familiares, diversidad regional, transporte difícil, creencias tradicionales y expansión digital.</a:t>
            </a:r>
            <a:endParaRPr lang="en-US" sz="1310" dirty="0"/>
          </a:p>
        </p:txBody>
      </p:sp>
      <p:sp>
        <p:nvSpPr>
          <p:cNvPr id="11" name="Shape 7"/>
          <p:cNvSpPr/>
          <p:nvPr/>
        </p:nvSpPr>
        <p:spPr>
          <a:xfrm>
            <a:off x="4553712" y="3584448"/>
            <a:ext cx="2971800" cy="1673352"/>
          </a:xfrm>
          <a:prstGeom prst="roundRect">
            <a:avLst>
              <a:gd name="adj" fmla="val 4372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8"/>
          <p:cNvSpPr/>
          <p:nvPr/>
        </p:nvSpPr>
        <p:spPr>
          <a:xfrm>
            <a:off x="4754880" y="3730752"/>
            <a:ext cx="2569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Costa norte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754880" y="4114800"/>
            <a:ext cx="256946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agrícola y comercial, migración, inseguridad, violencia familiar, participación juvenil y redes sociales.</a:t>
            </a:r>
            <a:endParaRPr lang="en-US" sz="1310" dirty="0"/>
          </a:p>
        </p:txBody>
      </p:sp>
      <p:sp>
        <p:nvSpPr>
          <p:cNvPr id="14" name="Shape 10"/>
          <p:cNvSpPr/>
          <p:nvPr/>
        </p:nvSpPr>
        <p:spPr>
          <a:xfrm>
            <a:off x="987552" y="5815584"/>
            <a:ext cx="10104120" cy="457200"/>
          </a:xfrm>
          <a:prstGeom prst="roundRect">
            <a:avLst>
              <a:gd name="adj" fmla="val 16000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1"/>
          <p:cNvSpPr/>
          <p:nvPr/>
        </p:nvSpPr>
        <p:spPr>
          <a:xfrm>
            <a:off x="1216152" y="5998464"/>
            <a:ext cx="9646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“Al que responde palabra antes de oír, le es fatuidad y oprobio.”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1216152" y="5925312"/>
            <a:ext cx="964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Proverbios 18:13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4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19" name="Image 2" descr="/mnt/data/image(1071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 1: etnocentrismo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Evaluar a otros usando mi cultura como si fuera la única correcta</a:t>
            </a:r>
            <a:endParaRPr lang="en-US" sz="1550" dirty="0"/>
          </a:p>
        </p:txBody>
      </p:sp>
      <p:pic>
        <p:nvPicPr>
          <p:cNvPr id="6" name="Image 0" descr="/mnt/data/wide_outdoor_street_village_scene_with_a_warm_late.png"/>
          <p:cNvPicPr>
            <a:picLocks noChangeAspect="1"/>
          </p:cNvPicPr>
          <p:nvPr/>
        </p:nvPicPr>
        <p:blipFill>
          <a:blip r:embed="rId3"/>
          <a:srcRect l="20410" r="20410"/>
          <a:stretch/>
        </p:blipFill>
        <p:spPr>
          <a:xfrm>
            <a:off x="685800" y="1417320"/>
            <a:ext cx="4663440" cy="4434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06440" y="1600200"/>
            <a:ext cx="5303520" cy="228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“Nuestra forma de cantar es la única reverente”.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“La gente de esa zona no es responsable”.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“El campo / la ciudad no entiende la verdadera fe”.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“Nuestra tradición vale igual que la Biblia”.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806440" y="4526280"/>
            <a:ext cx="5303520" cy="868680"/>
          </a:xfrm>
          <a:prstGeom prst="roundRect">
            <a:avLst>
              <a:gd name="adj" fmla="val 8421"/>
            </a:avLst>
          </a:prstGeom>
          <a:solidFill>
            <a:srgbClr val="FFF4CF"/>
          </a:solidFill>
          <a:ln w="1397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/>
          <p:nvPr/>
        </p:nvSpPr>
        <p:spPr>
          <a:xfrm>
            <a:off x="6025896" y="4663440"/>
            <a:ext cx="48646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bíblica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6025896" y="5056632"/>
            <a:ext cx="4864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fe en Cristo no debe acompañarse de favoritismo, prejuicio ni desprecio cultural.</a:t>
            </a:r>
            <a:endParaRPr lang="en-US" sz="1480" dirty="0"/>
          </a:p>
        </p:txBody>
      </p:sp>
      <p:sp>
        <p:nvSpPr>
          <p:cNvPr id="11" name="Shape 8"/>
          <p:cNvSpPr/>
          <p:nvPr/>
        </p:nvSpPr>
        <p:spPr>
          <a:xfrm>
            <a:off x="5806440" y="5596128"/>
            <a:ext cx="5303520" cy="502920"/>
          </a:xfrm>
          <a:prstGeom prst="roundRect">
            <a:avLst>
              <a:gd name="adj" fmla="val 14545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6035040" y="5779008"/>
            <a:ext cx="4846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“Dios no hace acepción de personas.”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6035040" y="5751576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Hechos 10:34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16" name="Image 1" descr="/mnt/data/image(107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 2 y 3: relativismo y sincretismo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Comprender una cultura no significa aprobar todo lo que practica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68680" y="1645920"/>
            <a:ext cx="4800600" cy="2148840"/>
          </a:xfrm>
          <a:prstGeom prst="roundRect">
            <a:avLst>
              <a:gd name="adj" fmla="val 3404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1069848" y="1792224"/>
            <a:ext cx="4398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Relativismo cultural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69848" y="2176272"/>
            <a:ext cx="4398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Afirma que ninguna práctica puede evaluarse moralmente porque cada cultura tendría “su propia verdad”.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92240" y="1645920"/>
            <a:ext cx="4800600" cy="2148840"/>
          </a:xfrm>
          <a:prstGeom prst="roundRect">
            <a:avLst>
              <a:gd name="adj" fmla="val 3404"/>
            </a:avLst>
          </a:prstGeom>
          <a:solidFill>
            <a:srgbClr val="FDECEC"/>
          </a:solidFill>
          <a:ln w="12700">
            <a:solidFill>
              <a:srgbClr val="A8323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6693408" y="1792224"/>
            <a:ext cx="4398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Sincretismo religioso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693408" y="2176272"/>
            <a:ext cx="4398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Mezcla la fe cristiana con creencias o prácticas incompatibles: amuletos, adivinación, idolatría u ocultismo.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194560" y="4526280"/>
            <a:ext cx="7772400" cy="804672"/>
          </a:xfrm>
          <a:prstGeom prst="roundRect">
            <a:avLst>
              <a:gd name="adj" fmla="val 9091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2395728" y="4672584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Discernimiento evangélico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395728" y="5056632"/>
            <a:ext cx="7370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Respetar a las personas, escuchar su historia y enseñar con claridad lo que la Escritura afirma.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2286000" y="5577840"/>
            <a:ext cx="7589520" cy="502920"/>
          </a:xfrm>
          <a:prstGeom prst="roundRect">
            <a:avLst>
              <a:gd name="adj" fmla="val 14545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2514600" y="5760720"/>
            <a:ext cx="7132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podéis beber la copa del Señor, y la copa de los demonios.”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2514600" y="5733288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Corintios 10:21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20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Contextualización fiel del evangelio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la forma sin modificar el mensaje</a:t>
            </a:r>
            <a:endParaRPr lang="en-US" sz="1550" dirty="0"/>
          </a:p>
        </p:txBody>
      </p:sp>
      <p:pic>
        <p:nvPicPr>
          <p:cNvPr id="6" name="Image 0" descr="/mnt/data/a_realistic_indoor_meeting_or_bible_study_scene_sh.png"/>
          <p:cNvPicPr>
            <a:picLocks noChangeAspect="1"/>
          </p:cNvPicPr>
          <p:nvPr/>
        </p:nvPicPr>
        <p:blipFill>
          <a:blip r:embed="rId3"/>
          <a:srcRect l="19787" r="19787"/>
          <a:stretch/>
        </p:blipFill>
        <p:spPr>
          <a:xfrm>
            <a:off x="658368" y="1444752"/>
            <a:ext cx="466344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15000" y="146304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5916168" y="1609344"/>
            <a:ext cx="4946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cambia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916168" y="1993392"/>
            <a:ext cx="4946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Autoridad bíblica, pecado, Cristo, cruz, resurrección, salvación por gracia, arrepentimiento y discipulado.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715000" y="315468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916168" y="3300984"/>
            <a:ext cx="4946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variar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5916168" y="3685032"/>
            <a:ext cx="4946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Idioma, horario, instrumentos, método de enseñanza, espacio de reunión, recursos y formas de acercamiento.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715000" y="5074920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/>
          <p:cNvSpPr/>
          <p:nvPr/>
        </p:nvSpPr>
        <p:spPr>
          <a:xfrm>
            <a:off x="5943600" y="5257800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he hecho a todos de todo, para que de todos modos salve a algunos.”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5943600" y="5321808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Corintios 9:22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18" name="Image 1" descr="/mnt/data/image(107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Principios para contextualizar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iglesia bíblica también debe ser comprensible para su comunidad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932688" y="1563624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Escuchar antes de juzgar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2688" y="1947672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Conocer familias, jóvenes, líderes y vecinos.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40080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6601968" y="1563624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forma y contenido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601968" y="1947672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evangelio no cambia; algunas formas sí.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731520" y="283464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932688" y="2980944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Examinar toda práctica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32688" y="3364992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Retener lo bueno, corregir lo dañado.</a:t>
            </a:r>
            <a:endParaRPr lang="en-US" sz="1280" dirty="0"/>
          </a:p>
        </p:txBody>
      </p:sp>
      <p:sp>
        <p:nvSpPr>
          <p:cNvPr id="15" name="Shape 13"/>
          <p:cNvSpPr/>
          <p:nvPr/>
        </p:nvSpPr>
        <p:spPr>
          <a:xfrm>
            <a:off x="6400800" y="283464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6601968" y="2980944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Evitar escándalo innecesario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601968" y="3364992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 el bien del prójimo y la edificación.</a:t>
            </a:r>
            <a:endParaRPr lang="en-US" sz="1280" dirty="0"/>
          </a:p>
        </p:txBody>
      </p:sp>
      <p:sp>
        <p:nvSpPr>
          <p:cNvPr id="18" name="Shape 16"/>
          <p:cNvSpPr/>
          <p:nvPr/>
        </p:nvSpPr>
        <p:spPr>
          <a:xfrm>
            <a:off x="731520" y="42519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932688" y="4398264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Promover orden y edificación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32688" y="4782312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Decisiones claras, transparentes y pastorales.</a:t>
            </a:r>
            <a:endParaRPr lang="en-US" sz="1280" dirty="0"/>
          </a:p>
        </p:txBody>
      </p:sp>
      <p:sp>
        <p:nvSpPr>
          <p:cNvPr id="21" name="Shape 19"/>
          <p:cNvSpPr/>
          <p:nvPr/>
        </p:nvSpPr>
        <p:spPr>
          <a:xfrm>
            <a:off x="6400800" y="42519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6601968" y="4398264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Conservar conciencia bíblica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601968" y="4782312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actuar contra la Palabra de Dios.</a:t>
            </a:r>
            <a:endParaRPr lang="en-US" sz="1280" dirty="0"/>
          </a:p>
        </p:txBody>
      </p:sp>
      <p:sp>
        <p:nvSpPr>
          <p:cNvPr id="24" name="Shape 22"/>
          <p:cNvSpPr/>
          <p:nvPr/>
        </p:nvSpPr>
        <p:spPr>
          <a:xfrm>
            <a:off x="1600200" y="5806440"/>
            <a:ext cx="9052560" cy="457200"/>
          </a:xfrm>
          <a:prstGeom prst="roundRect">
            <a:avLst>
              <a:gd name="adj" fmla="val 16000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1828800" y="5989320"/>
            <a:ext cx="85953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“Todo me es lícito, pero no todo conviene; todo me es lícito, pero no todo edifica.”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828800" y="5916168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Corintios 10:23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6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29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Actividad: semáforo cultural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Clasificar prácticas para tomar decisiones pastorales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68680" y="1600200"/>
            <a:ext cx="3154680" cy="2057400"/>
          </a:xfrm>
          <a:prstGeom prst="roundRect">
            <a:avLst>
              <a:gd name="adj" fmla="val 3556"/>
            </a:avLst>
          </a:prstGeom>
          <a:solidFill>
            <a:srgbClr val="E9F3EF"/>
          </a:solidFill>
          <a:ln w="12700">
            <a:solidFill>
              <a:srgbClr val="14372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1069848" y="174650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Aceptar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069848" y="2130552"/>
            <a:ext cx="27523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contradice la Biblia y puede servir al ministerio.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26280" y="1600200"/>
            <a:ext cx="3154680" cy="2057400"/>
          </a:xfrm>
          <a:prstGeom prst="roundRect">
            <a:avLst>
              <a:gd name="adj" fmla="val 3556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727448" y="174650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AMARILLO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Transformar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727448" y="2130552"/>
            <a:ext cx="27523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Tiene elementos útiles, pero requiere límites u orientación.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83880" y="1600200"/>
            <a:ext cx="3154680" cy="2057400"/>
          </a:xfrm>
          <a:prstGeom prst="roundRect">
            <a:avLst>
              <a:gd name="adj" fmla="val 3556"/>
            </a:avLst>
          </a:prstGeom>
          <a:solidFill>
            <a:srgbClr val="FDECEC"/>
          </a:solidFill>
          <a:ln w="12700">
            <a:solidFill>
              <a:srgbClr val="A8323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8385048" y="174650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ROJO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Rechazar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8385048" y="2130552"/>
            <a:ext cx="27523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Contradice claramente la Palabra de Dios.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423160" y="3858768"/>
            <a:ext cx="0" cy="685800"/>
          </a:xfrm>
          <a:prstGeom prst="line">
            <a:avLst/>
          </a:prstGeom>
          <a:noFill/>
          <a:ln w="25400">
            <a:solidFill>
              <a:srgbClr val="D9A51C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4"/>
          <p:cNvSpPr/>
          <p:nvPr/>
        </p:nvSpPr>
        <p:spPr>
          <a:xfrm>
            <a:off x="6080760" y="3858768"/>
            <a:ext cx="0" cy="685800"/>
          </a:xfrm>
          <a:prstGeom prst="line">
            <a:avLst/>
          </a:prstGeom>
          <a:noFill/>
          <a:ln w="25400">
            <a:solidFill>
              <a:srgbClr val="D9A51C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7" name="Shape 15"/>
          <p:cNvSpPr/>
          <p:nvPr/>
        </p:nvSpPr>
        <p:spPr>
          <a:xfrm>
            <a:off x="9738360" y="3858768"/>
            <a:ext cx="0" cy="685800"/>
          </a:xfrm>
          <a:prstGeom prst="line">
            <a:avLst/>
          </a:prstGeom>
          <a:noFill/>
          <a:ln w="25400">
            <a:solidFill>
              <a:srgbClr val="D9A51C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1920240" y="4645152"/>
            <a:ext cx="83210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2121408" y="4791456"/>
            <a:ext cx="7918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guía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121408" y="5175504"/>
            <a:ext cx="7918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¿Esta práctica edifica, contradice o necesita ser transformada a la luz de la Escritura?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23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para aplicar el semáforo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no por gusto personal, sino por fidelidad bíblica y edificación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77240" y="1508760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978408" y="165506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regional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978408" y="2039112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Cantos con ritmos locales y letras bíblicas.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572000" y="1508760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773168" y="165506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Horario agrícola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4773168" y="2039112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Reuniones adaptadas a jornadas de trabajo.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366760" y="1508760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8567928" y="165506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Adivinación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8567928" y="2039112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a “curanderos” para resolver problemas.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777240" y="3383280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978408" y="352958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Autoridad sin rendición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978408" y="3913632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líder controla todo sin transparencia.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4572000" y="3383280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EAF2FA"/>
          </a:solidFill>
          <a:ln w="12700">
            <a:solidFill>
              <a:srgbClr val="A6C4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4773168" y="352958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Idioma local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4773168" y="3913632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Predicación y enseñanza en lengua de la comunidad.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8366760" y="3383280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FFF4CF"/>
          </a:solidFill>
          <a:ln w="1270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8567928" y="3529584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Violencia familiar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8567928" y="3913632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Encubrir agresiones para “no dañar el testimonio”.</a:t>
            </a:r>
            <a:endParaRPr lang="en-US" sz="1320" dirty="0"/>
          </a:p>
        </p:txBody>
      </p:sp>
      <p:sp>
        <p:nvSpPr>
          <p:cNvPr id="24" name="Shape 22"/>
          <p:cNvSpPr/>
          <p:nvPr/>
        </p:nvSpPr>
        <p:spPr>
          <a:xfrm>
            <a:off x="2331720" y="5532120"/>
            <a:ext cx="7498080" cy="566928"/>
          </a:xfrm>
          <a:prstGeom prst="roundRect">
            <a:avLst>
              <a:gd name="adj" fmla="val 12903"/>
            </a:avLst>
          </a:prstGeom>
          <a:solidFill>
            <a:srgbClr val="FFF4CF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2560320" y="5715000"/>
            <a:ext cx="7040880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 conoceréis la verdad, y la verdad os hará libres.”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2560320" y="5751576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Juan 8:32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6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29" name="Image 0" descr="/mnt/data/image(107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109728" cy="576072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749808" y="42976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 individual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68096" y="987552"/>
            <a:ext cx="10698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Analizar una costumbre de mi iglesia o comunidad</a:t>
            </a:r>
            <a:endParaRPr lang="en-US" sz="1550" dirty="0"/>
          </a:p>
        </p:txBody>
      </p:sp>
      <p:pic>
        <p:nvPicPr>
          <p:cNvPr id="6" name="Image 0" descr="/mnt/data/a_realistic_documentary_style_outdoor_community_m.png"/>
          <p:cNvPicPr>
            <a:picLocks noChangeAspect="1"/>
          </p:cNvPicPr>
          <p:nvPr/>
        </p:nvPicPr>
        <p:blipFill>
          <a:blip r:embed="rId3"/>
          <a:srcRect l="21268" r="21268"/>
          <a:stretch/>
        </p:blipFill>
        <p:spPr>
          <a:xfrm>
            <a:off x="6720840" y="1417320"/>
            <a:ext cx="44348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1481328"/>
            <a:ext cx="5440680" cy="3429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¿Cuál es la práctica?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¿De dónde proviene?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¿Es bíblica, denominacional o local?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¿Qué beneficios produce?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¿Qué dificultades genera?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¿Debe conservarse, modificarse o abandonarse?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¿Qué texto bíblico orienta la decisión?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68680" y="5166360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E9F3EF"/>
          </a:solidFill>
          <a:ln w="13970">
            <a:solidFill>
              <a:srgbClr val="14372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/>
          <p:nvPr/>
        </p:nvSpPr>
        <p:spPr>
          <a:xfrm>
            <a:off x="1088136" y="5303520"/>
            <a:ext cx="5001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de salida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1088136" y="5696712"/>
            <a:ext cx="500176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decisión pastoral breve, razonada y sustentada bíblicamente.</a:t>
            </a:r>
            <a:endParaRPr lang="en-US" sz="1480" dirty="0"/>
          </a:p>
        </p:txBody>
      </p:sp>
      <p:sp>
        <p:nvSpPr>
          <p:cNvPr id="11" name="Shape 8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3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13" name="Image 1" descr="/mnt/data/image(107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3B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B7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" name="Image 0" descr="/mnt/data/a_wide_interior_scene_of_a_rustic_classroom_or_mee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B70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685800" y="960120"/>
            <a:ext cx="128016" cy="4526280"/>
          </a:xfrm>
          <a:prstGeom prst="rect">
            <a:avLst/>
          </a:prstGeom>
          <a:solidFill>
            <a:srgbClr val="D9A5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960120" y="96012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centrales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87552" y="1828800"/>
            <a:ext cx="98755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 cultura influye en cómo vivimos y expresamos la fe.</a:t>
            </a: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 Biblia es el criterio final para discernir toda práctica.</a:t>
            </a: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toda tradición es doctrina; no toda innovación es infidelidad.</a:t>
            </a: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 contextualización adapta la forma, no el evangelio.</a:t>
            </a: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 iglesia sirve mejor cuando conoce su comunidad con amor y verdad.</a:t>
            </a:r>
            <a:endParaRPr lang="en-US" sz="1950" dirty="0"/>
          </a:p>
        </p:txBody>
      </p:sp>
      <p:sp>
        <p:nvSpPr>
          <p:cNvPr id="8" name="Shape 5"/>
          <p:cNvSpPr/>
          <p:nvPr/>
        </p:nvSpPr>
        <p:spPr>
          <a:xfrm>
            <a:off x="1005840" y="5074920"/>
            <a:ext cx="7406640" cy="658368"/>
          </a:xfrm>
          <a:prstGeom prst="roundRect">
            <a:avLst>
              <a:gd name="adj" fmla="val 11111"/>
            </a:avLst>
          </a:prstGeom>
          <a:solidFill>
            <a:srgbClr val="0B4E86"/>
          </a:solidFill>
          <a:ln w="17780">
            <a:solidFill>
              <a:srgbClr val="D9A5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/>
          <p:nvPr/>
        </p:nvSpPr>
        <p:spPr>
          <a:xfrm>
            <a:off x="1234440" y="5257800"/>
            <a:ext cx="6949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“Id, y haced discípulos a todas las naciones.”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234440" y="5385816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E6BC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Mateo 28:19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3970">
            <a:solidFill>
              <a:srgbClr val="D9A51C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566928" y="652881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STESIN · Introducción a la sociología · Sesión 2</a:t>
            </a:r>
            <a:endParaRPr lang="en-US" sz="750" dirty="0"/>
          </a:p>
        </p:txBody>
      </p:sp>
      <p:pic>
        <p:nvPicPr>
          <p:cNvPr id="13" name="Image 1" descr="/mnt/data/image(107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916" y="6419088"/>
            <a:ext cx="1069791" cy="3108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2002</Words>
  <Application>Microsoft Office PowerPoint</Application>
  <PresentationFormat>Panorámica</PresentationFormat>
  <Paragraphs>316</Paragraphs>
  <Slides>24</Slides>
  <Notes>24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6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STESIN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2: Sociedad, cultura y cosmovisión cristiana</dc:title>
  <dc:subject>Introducción a la sociología - STESIN</dc:subject>
  <dc:creator>Dr. Frank Isaac Berrocal Aréstegui</dc:creator>
  <cp:lastModifiedBy>Frank Isaac Berrocal Aréstegui</cp:lastModifiedBy>
  <cp:revision>2</cp:revision>
  <dcterms:created xsi:type="dcterms:W3CDTF">2026-07-21T23:28:38Z</dcterms:created>
  <dcterms:modified xsi:type="dcterms:W3CDTF">2026-07-21T23:50:20Z</dcterms:modified>
</cp:coreProperties>
</file>